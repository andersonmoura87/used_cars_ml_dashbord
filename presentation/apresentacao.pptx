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7" r:id="rId9"/>
    <p:sldId id="268" r:id="rId10"/>
    <p:sldId id="269" r:id="rId11"/>
    <p:sldId id="262" r:id="rId12"/>
    <p:sldId id="263" r:id="rId13"/>
    <p:sldId id="264" r:id="rId14"/>
    <p:sldId id="265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5616" autoAdjust="0"/>
  </p:normalViewPr>
  <p:slideViewPr>
    <p:cSldViewPr snapToGrid="0" snapToObjects="1">
      <p:cViewPr varScale="1">
        <p:scale>
          <a:sx n="80" d="100"/>
          <a:sy n="80" d="100"/>
        </p:scale>
        <p:origin x="196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Relationship Id="rId14" Type="http://schemas.openxmlformats.org/officeDocument/2006/relationships/image" Target="../media/image2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Relationship Id="rId14" Type="http://schemas.openxmlformats.org/officeDocument/2006/relationships/image" Target="../media/image2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9D90768-5D52-41EA-AE90-75952D0736F2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accent3_2" csCatId="accent3" phldr="1"/>
      <dgm:spPr/>
      <dgm:t>
        <a:bodyPr/>
        <a:lstStyle/>
        <a:p>
          <a:endParaRPr lang="en-US"/>
        </a:p>
      </dgm:t>
    </dgm:pt>
    <dgm:pt modelId="{FCE75C52-10A6-45CA-BBF4-05E2205B854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Principais Descobertas</a:t>
          </a:r>
        </a:p>
      </dgm:t>
    </dgm:pt>
    <dgm:pt modelId="{F18B0640-B0B1-4CD1-A251-E6A0321B34DB}" type="parTrans" cxnId="{B16DD154-088C-4DF1-9263-E4E570306761}">
      <dgm:prSet/>
      <dgm:spPr/>
      <dgm:t>
        <a:bodyPr/>
        <a:lstStyle/>
        <a:p>
          <a:endParaRPr lang="en-US"/>
        </a:p>
      </dgm:t>
    </dgm:pt>
    <dgm:pt modelId="{4CA0B84E-AA6E-4C15-B34D-E48CFC4146F4}" type="sibTrans" cxnId="{B16DD154-088C-4DF1-9263-E4E57030676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83F4C88-A0F0-454F-8D31-5F6B186E65C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Padrões de preço</a:t>
          </a:r>
        </a:p>
      </dgm:t>
    </dgm:pt>
    <dgm:pt modelId="{1CE904C6-8E42-41E5-BF13-67FB7466BD41}" type="parTrans" cxnId="{D3CA19C4-E3D9-4175-9725-028FF852AD97}">
      <dgm:prSet/>
      <dgm:spPr/>
      <dgm:t>
        <a:bodyPr/>
        <a:lstStyle/>
        <a:p>
          <a:endParaRPr lang="en-US"/>
        </a:p>
      </dgm:t>
    </dgm:pt>
    <dgm:pt modelId="{95450DA7-0032-45A2-A4A9-0B29B1E55030}" type="sibTrans" cxnId="{D3CA19C4-E3D9-4175-9725-028FF852AD9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45DB370-E818-454D-B393-5EF78D43DFE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Preferências do mercado</a:t>
          </a:r>
        </a:p>
      </dgm:t>
    </dgm:pt>
    <dgm:pt modelId="{29DE76F0-7B2F-4D3D-8631-BC14045F7CDE}" type="parTrans" cxnId="{2DEFE7C8-D14C-482A-BE0A-E238865FD08D}">
      <dgm:prSet/>
      <dgm:spPr/>
      <dgm:t>
        <a:bodyPr/>
        <a:lstStyle/>
        <a:p>
          <a:endParaRPr lang="en-US"/>
        </a:p>
      </dgm:t>
    </dgm:pt>
    <dgm:pt modelId="{8F653B18-8F9D-4EA0-B307-91ED670B3FED}" type="sibTrans" cxnId="{2DEFE7C8-D14C-482A-BE0A-E238865FD08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79EABB1-9366-4F01-A420-153E8EA4566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Insights geográficos</a:t>
          </a:r>
        </a:p>
      </dgm:t>
    </dgm:pt>
    <dgm:pt modelId="{98F844EE-BC2B-4500-B751-7016A70AB4E0}" type="parTrans" cxnId="{1364284C-D619-4400-924E-1DFFBC9D6576}">
      <dgm:prSet/>
      <dgm:spPr/>
      <dgm:t>
        <a:bodyPr/>
        <a:lstStyle/>
        <a:p>
          <a:endParaRPr lang="en-US"/>
        </a:p>
      </dgm:t>
    </dgm:pt>
    <dgm:pt modelId="{4DBB5EEB-2812-4C87-96DF-96D04A7162AE}" type="sibTrans" cxnId="{1364284C-D619-4400-924E-1DFFBC9D657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4981270-05FC-4ABF-B327-ABCAC5152AB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Próximos Passos</a:t>
          </a:r>
        </a:p>
      </dgm:t>
    </dgm:pt>
    <dgm:pt modelId="{981F3B7A-842C-4BB2-AC33-B0BF06799191}" type="parTrans" cxnId="{58581CAF-23F5-4D2D-901D-89CE00346972}">
      <dgm:prSet/>
      <dgm:spPr/>
      <dgm:t>
        <a:bodyPr/>
        <a:lstStyle/>
        <a:p>
          <a:endParaRPr lang="en-US"/>
        </a:p>
      </dgm:t>
    </dgm:pt>
    <dgm:pt modelId="{5DF89E9F-C346-4EFC-845D-D1A6B30681FF}" type="sibTrans" cxnId="{58581CAF-23F5-4D2D-901D-89CE0034697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11A3995-9FD5-462A-B854-096DC453B48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Melhorias sugeridas</a:t>
          </a:r>
        </a:p>
      </dgm:t>
    </dgm:pt>
    <dgm:pt modelId="{2160B593-66A0-42B6-A8B3-3FF301BCFFFE}" type="parTrans" cxnId="{A12E970B-E765-47DA-9C17-F277C807523D}">
      <dgm:prSet/>
      <dgm:spPr/>
      <dgm:t>
        <a:bodyPr/>
        <a:lstStyle/>
        <a:p>
          <a:endParaRPr lang="en-US"/>
        </a:p>
      </dgm:t>
    </dgm:pt>
    <dgm:pt modelId="{651CA871-8940-479D-8C61-8E53D7587F17}" type="sibTrans" cxnId="{A12E970B-E765-47DA-9C17-F277C807523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D361A47-A758-482B-81AE-3CB3129A8B6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Novas análises</a:t>
          </a:r>
        </a:p>
      </dgm:t>
    </dgm:pt>
    <dgm:pt modelId="{06C9CC91-A336-4803-A5EE-739327E03B9D}" type="parTrans" cxnId="{C5D2CBC2-C416-4713-9379-5C2DF487D3F1}">
      <dgm:prSet/>
      <dgm:spPr/>
      <dgm:t>
        <a:bodyPr/>
        <a:lstStyle/>
        <a:p>
          <a:endParaRPr lang="en-US"/>
        </a:p>
      </dgm:t>
    </dgm:pt>
    <dgm:pt modelId="{A5B72572-4A6E-4A3B-A8CB-D307E92EA695}" type="sibTrans" cxnId="{C5D2CBC2-C416-4713-9379-5C2DF487D3F1}">
      <dgm:prSet/>
      <dgm:spPr/>
      <dgm:t>
        <a:bodyPr/>
        <a:lstStyle/>
        <a:p>
          <a:endParaRPr lang="en-US"/>
        </a:p>
      </dgm:t>
    </dgm:pt>
    <dgm:pt modelId="{87609F03-7F22-4737-95A1-B310EA0A87EE}" type="pres">
      <dgm:prSet presAssocID="{89D90768-5D52-41EA-AE90-75952D0736F2}" presName="root" presStyleCnt="0">
        <dgm:presLayoutVars>
          <dgm:dir/>
          <dgm:resizeHandles val="exact"/>
        </dgm:presLayoutVars>
      </dgm:prSet>
      <dgm:spPr/>
    </dgm:pt>
    <dgm:pt modelId="{408D0B33-E220-49E9-8C11-9C1ECCAC6B71}" type="pres">
      <dgm:prSet presAssocID="{89D90768-5D52-41EA-AE90-75952D0736F2}" presName="container" presStyleCnt="0">
        <dgm:presLayoutVars>
          <dgm:dir/>
          <dgm:resizeHandles val="exact"/>
        </dgm:presLayoutVars>
      </dgm:prSet>
      <dgm:spPr/>
    </dgm:pt>
    <dgm:pt modelId="{DD997E78-E00B-434E-B770-6F46F3A92F61}" type="pres">
      <dgm:prSet presAssocID="{FCE75C52-10A6-45CA-BBF4-05E2205B8544}" presName="compNode" presStyleCnt="0"/>
      <dgm:spPr/>
    </dgm:pt>
    <dgm:pt modelId="{9D3C0906-019C-4528-B37B-8647C1B97C3F}" type="pres">
      <dgm:prSet presAssocID="{FCE75C52-10A6-45CA-BBF4-05E2205B8544}" presName="iconBgRect" presStyleLbl="bgShp" presStyleIdx="0" presStyleCnt="7"/>
      <dgm:spPr/>
    </dgm:pt>
    <dgm:pt modelId="{F08C701A-0A16-49B8-9C70-10C91144AAB5}" type="pres">
      <dgm:prSet presAssocID="{FCE75C52-10A6-45CA-BBF4-05E2205B8544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907D73C9-4EB3-46EE-AF8A-AB7A2FF13DE2}" type="pres">
      <dgm:prSet presAssocID="{FCE75C52-10A6-45CA-BBF4-05E2205B8544}" presName="spaceRect" presStyleCnt="0"/>
      <dgm:spPr/>
    </dgm:pt>
    <dgm:pt modelId="{1B810EEF-5F74-43F6-8D54-3C381B549D5D}" type="pres">
      <dgm:prSet presAssocID="{FCE75C52-10A6-45CA-BBF4-05E2205B8544}" presName="textRect" presStyleLbl="revTx" presStyleIdx="0" presStyleCnt="7">
        <dgm:presLayoutVars>
          <dgm:chMax val="1"/>
          <dgm:chPref val="1"/>
        </dgm:presLayoutVars>
      </dgm:prSet>
      <dgm:spPr/>
    </dgm:pt>
    <dgm:pt modelId="{AE653078-0102-4989-8C80-319E7743F067}" type="pres">
      <dgm:prSet presAssocID="{4CA0B84E-AA6E-4C15-B34D-E48CFC4146F4}" presName="sibTrans" presStyleLbl="sibTrans2D1" presStyleIdx="0" presStyleCnt="0"/>
      <dgm:spPr/>
    </dgm:pt>
    <dgm:pt modelId="{1B65CCA9-A4D4-462A-B8F5-9C39A195C886}" type="pres">
      <dgm:prSet presAssocID="{C83F4C88-A0F0-454F-8D31-5F6B186E65C0}" presName="compNode" presStyleCnt="0"/>
      <dgm:spPr/>
    </dgm:pt>
    <dgm:pt modelId="{66BD3128-F04A-4F8D-852B-5672EEB038D6}" type="pres">
      <dgm:prSet presAssocID="{C83F4C88-A0F0-454F-8D31-5F6B186E65C0}" presName="iconBgRect" presStyleLbl="bgShp" presStyleIdx="1" presStyleCnt="7"/>
      <dgm:spPr/>
    </dgm:pt>
    <dgm:pt modelId="{EF0C3FC8-0E68-45F7-830C-853C7C8D0B6E}" type="pres">
      <dgm:prSet presAssocID="{C83F4C88-A0F0-454F-8D31-5F6B186E65C0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ólar"/>
        </a:ext>
      </dgm:extLst>
    </dgm:pt>
    <dgm:pt modelId="{F77C6490-D126-43E5-AD43-62DE92F3C7D4}" type="pres">
      <dgm:prSet presAssocID="{C83F4C88-A0F0-454F-8D31-5F6B186E65C0}" presName="spaceRect" presStyleCnt="0"/>
      <dgm:spPr/>
    </dgm:pt>
    <dgm:pt modelId="{7C3BF7AE-E40B-4187-ADBF-9CEDA080147C}" type="pres">
      <dgm:prSet presAssocID="{C83F4C88-A0F0-454F-8D31-5F6B186E65C0}" presName="textRect" presStyleLbl="revTx" presStyleIdx="1" presStyleCnt="7">
        <dgm:presLayoutVars>
          <dgm:chMax val="1"/>
          <dgm:chPref val="1"/>
        </dgm:presLayoutVars>
      </dgm:prSet>
      <dgm:spPr/>
    </dgm:pt>
    <dgm:pt modelId="{D2BFC7E1-D174-4063-90CA-B578E00C9144}" type="pres">
      <dgm:prSet presAssocID="{95450DA7-0032-45A2-A4A9-0B29B1E55030}" presName="sibTrans" presStyleLbl="sibTrans2D1" presStyleIdx="0" presStyleCnt="0"/>
      <dgm:spPr/>
    </dgm:pt>
    <dgm:pt modelId="{F38D5457-B517-48B4-9DEC-8FFFE4184EDC}" type="pres">
      <dgm:prSet presAssocID="{845DB370-E818-454D-B393-5EF78D43DFEF}" presName="compNode" presStyleCnt="0"/>
      <dgm:spPr/>
    </dgm:pt>
    <dgm:pt modelId="{C368D6EE-3B19-4C1C-97DF-39E49ABCDBBC}" type="pres">
      <dgm:prSet presAssocID="{845DB370-E818-454D-B393-5EF78D43DFEF}" presName="iconBgRect" presStyleLbl="bgShp" presStyleIdx="2" presStyleCnt="7"/>
      <dgm:spPr/>
    </dgm:pt>
    <dgm:pt modelId="{C8A7C9A5-6B5D-446D-B045-3FE01DB05F69}" type="pres">
      <dgm:prSet presAssocID="{845DB370-E818-454D-B393-5EF78D43DFEF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ngle gear"/>
        </a:ext>
      </dgm:extLst>
    </dgm:pt>
    <dgm:pt modelId="{75D071AB-C6C9-4466-AB26-2078F81C47D3}" type="pres">
      <dgm:prSet presAssocID="{845DB370-E818-454D-B393-5EF78D43DFEF}" presName="spaceRect" presStyleCnt="0"/>
      <dgm:spPr/>
    </dgm:pt>
    <dgm:pt modelId="{D55DB0A6-347D-4752-83C6-6CC0FD5BCD09}" type="pres">
      <dgm:prSet presAssocID="{845DB370-E818-454D-B393-5EF78D43DFEF}" presName="textRect" presStyleLbl="revTx" presStyleIdx="2" presStyleCnt="7">
        <dgm:presLayoutVars>
          <dgm:chMax val="1"/>
          <dgm:chPref val="1"/>
        </dgm:presLayoutVars>
      </dgm:prSet>
      <dgm:spPr/>
    </dgm:pt>
    <dgm:pt modelId="{2D472858-E569-465B-B5D1-FF5882EF5198}" type="pres">
      <dgm:prSet presAssocID="{8F653B18-8F9D-4EA0-B307-91ED670B3FED}" presName="sibTrans" presStyleLbl="sibTrans2D1" presStyleIdx="0" presStyleCnt="0"/>
      <dgm:spPr/>
    </dgm:pt>
    <dgm:pt modelId="{B35A0050-9617-4603-8AC2-AE0E4671E288}" type="pres">
      <dgm:prSet presAssocID="{E79EABB1-9366-4F01-A420-153E8EA4566F}" presName="compNode" presStyleCnt="0"/>
      <dgm:spPr/>
    </dgm:pt>
    <dgm:pt modelId="{A4ABE26B-B652-4A5F-AD8E-5B52035E46A6}" type="pres">
      <dgm:prSet presAssocID="{E79EABB1-9366-4F01-A420-153E8EA4566F}" presName="iconBgRect" presStyleLbl="bgShp" presStyleIdx="3" presStyleCnt="7"/>
      <dgm:spPr/>
    </dgm:pt>
    <dgm:pt modelId="{B40BA90F-C0E3-4859-8120-6A9A2B1EFC11}" type="pres">
      <dgm:prSet presAssocID="{E79EABB1-9366-4F01-A420-153E8EA4566F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p with pin"/>
        </a:ext>
      </dgm:extLst>
    </dgm:pt>
    <dgm:pt modelId="{60A6B06A-422E-431D-8AC2-ABC42CE7037E}" type="pres">
      <dgm:prSet presAssocID="{E79EABB1-9366-4F01-A420-153E8EA4566F}" presName="spaceRect" presStyleCnt="0"/>
      <dgm:spPr/>
    </dgm:pt>
    <dgm:pt modelId="{576810E6-69AF-4EEB-BF2B-B7E452699F80}" type="pres">
      <dgm:prSet presAssocID="{E79EABB1-9366-4F01-A420-153E8EA4566F}" presName="textRect" presStyleLbl="revTx" presStyleIdx="3" presStyleCnt="7">
        <dgm:presLayoutVars>
          <dgm:chMax val="1"/>
          <dgm:chPref val="1"/>
        </dgm:presLayoutVars>
      </dgm:prSet>
      <dgm:spPr/>
    </dgm:pt>
    <dgm:pt modelId="{1AF81A32-15A7-476F-A646-76F420CEEADE}" type="pres">
      <dgm:prSet presAssocID="{4DBB5EEB-2812-4C87-96DF-96D04A7162AE}" presName="sibTrans" presStyleLbl="sibTrans2D1" presStyleIdx="0" presStyleCnt="0"/>
      <dgm:spPr/>
    </dgm:pt>
    <dgm:pt modelId="{5E715F63-E0B3-4816-A0E7-249B142D05D8}" type="pres">
      <dgm:prSet presAssocID="{F4981270-05FC-4ABF-B327-ABCAC5152AB6}" presName="compNode" presStyleCnt="0"/>
      <dgm:spPr/>
    </dgm:pt>
    <dgm:pt modelId="{32045C59-9EE9-4592-9922-307E3E99B053}" type="pres">
      <dgm:prSet presAssocID="{F4981270-05FC-4ABF-B327-ABCAC5152AB6}" presName="iconBgRect" presStyleLbl="bgShp" presStyleIdx="4" presStyleCnt="7"/>
      <dgm:spPr/>
    </dgm:pt>
    <dgm:pt modelId="{49D07979-59A2-493A-BD1A-F82611EC719B}" type="pres">
      <dgm:prSet presAssocID="{F4981270-05FC-4ABF-B327-ABCAC5152AB6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nce Steps"/>
        </a:ext>
      </dgm:extLst>
    </dgm:pt>
    <dgm:pt modelId="{39CB0D46-5853-4A8B-A07F-8CF20D0D44EE}" type="pres">
      <dgm:prSet presAssocID="{F4981270-05FC-4ABF-B327-ABCAC5152AB6}" presName="spaceRect" presStyleCnt="0"/>
      <dgm:spPr/>
    </dgm:pt>
    <dgm:pt modelId="{8B3D6463-FF70-4B49-8D28-3E55591050C2}" type="pres">
      <dgm:prSet presAssocID="{F4981270-05FC-4ABF-B327-ABCAC5152AB6}" presName="textRect" presStyleLbl="revTx" presStyleIdx="4" presStyleCnt="7">
        <dgm:presLayoutVars>
          <dgm:chMax val="1"/>
          <dgm:chPref val="1"/>
        </dgm:presLayoutVars>
      </dgm:prSet>
      <dgm:spPr/>
    </dgm:pt>
    <dgm:pt modelId="{5BE7CA6B-3047-4F8D-9086-508CCB05CF3F}" type="pres">
      <dgm:prSet presAssocID="{5DF89E9F-C346-4EFC-845D-D1A6B30681FF}" presName="sibTrans" presStyleLbl="sibTrans2D1" presStyleIdx="0" presStyleCnt="0"/>
      <dgm:spPr/>
    </dgm:pt>
    <dgm:pt modelId="{1A282E95-D547-422F-912A-0C9C7F40B549}" type="pres">
      <dgm:prSet presAssocID="{811A3995-9FD5-462A-B854-096DC453B48D}" presName="compNode" presStyleCnt="0"/>
      <dgm:spPr/>
    </dgm:pt>
    <dgm:pt modelId="{BC633B8F-3ED7-4EDB-89F8-B300DE797B82}" type="pres">
      <dgm:prSet presAssocID="{811A3995-9FD5-462A-B854-096DC453B48D}" presName="iconBgRect" presStyleLbl="bgShp" presStyleIdx="5" presStyleCnt="7"/>
      <dgm:spPr/>
    </dgm:pt>
    <dgm:pt modelId="{04BA2E4E-1342-490F-B6CE-02606CA56612}" type="pres">
      <dgm:prSet presAssocID="{811A3995-9FD5-462A-B854-096DC453B48D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D1D6E580-B643-4AC0-86ED-18C64111D6F7}" type="pres">
      <dgm:prSet presAssocID="{811A3995-9FD5-462A-B854-096DC453B48D}" presName="spaceRect" presStyleCnt="0"/>
      <dgm:spPr/>
    </dgm:pt>
    <dgm:pt modelId="{ED2F2587-AA48-416B-AFBE-9020F9EBE5D5}" type="pres">
      <dgm:prSet presAssocID="{811A3995-9FD5-462A-B854-096DC453B48D}" presName="textRect" presStyleLbl="revTx" presStyleIdx="5" presStyleCnt="7">
        <dgm:presLayoutVars>
          <dgm:chMax val="1"/>
          <dgm:chPref val="1"/>
        </dgm:presLayoutVars>
      </dgm:prSet>
      <dgm:spPr/>
    </dgm:pt>
    <dgm:pt modelId="{CEADD3BF-017A-41C8-A9D0-2248CEE01EBF}" type="pres">
      <dgm:prSet presAssocID="{651CA871-8940-479D-8C61-8E53D7587F17}" presName="sibTrans" presStyleLbl="sibTrans2D1" presStyleIdx="0" presStyleCnt="0"/>
      <dgm:spPr/>
    </dgm:pt>
    <dgm:pt modelId="{17DBDDCE-593E-45E3-8BC4-C82D5FD82249}" type="pres">
      <dgm:prSet presAssocID="{ED361A47-A758-482B-81AE-3CB3129A8B64}" presName="compNode" presStyleCnt="0"/>
      <dgm:spPr/>
    </dgm:pt>
    <dgm:pt modelId="{11253479-25B8-4C0B-9334-38EC5D792155}" type="pres">
      <dgm:prSet presAssocID="{ED361A47-A758-482B-81AE-3CB3129A8B64}" presName="iconBgRect" presStyleLbl="bgShp" presStyleIdx="6" presStyleCnt="7"/>
      <dgm:spPr/>
    </dgm:pt>
    <dgm:pt modelId="{95AA1661-B795-4161-8A77-D629D3B73F74}" type="pres">
      <dgm:prSet presAssocID="{ED361A47-A758-482B-81AE-3CB3129A8B64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873707CF-C4C2-4F50-AC62-437D3652F197}" type="pres">
      <dgm:prSet presAssocID="{ED361A47-A758-482B-81AE-3CB3129A8B64}" presName="spaceRect" presStyleCnt="0"/>
      <dgm:spPr/>
    </dgm:pt>
    <dgm:pt modelId="{53FA839D-CDB2-4438-A1F4-937D54443232}" type="pres">
      <dgm:prSet presAssocID="{ED361A47-A758-482B-81AE-3CB3129A8B64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5C934E0B-4252-4BC9-A615-907B8D9158DC}" type="presOf" srcId="{811A3995-9FD5-462A-B854-096DC453B48D}" destId="{ED2F2587-AA48-416B-AFBE-9020F9EBE5D5}" srcOrd="0" destOrd="0" presId="urn:microsoft.com/office/officeart/2018/2/layout/IconCircleList"/>
    <dgm:cxn modelId="{A12E970B-E765-47DA-9C17-F277C807523D}" srcId="{89D90768-5D52-41EA-AE90-75952D0736F2}" destId="{811A3995-9FD5-462A-B854-096DC453B48D}" srcOrd="5" destOrd="0" parTransId="{2160B593-66A0-42B6-A8B3-3FF301BCFFFE}" sibTransId="{651CA871-8940-479D-8C61-8E53D7587F17}"/>
    <dgm:cxn modelId="{20CF5723-1A64-441F-B2F8-53B220C92B2A}" type="presOf" srcId="{ED361A47-A758-482B-81AE-3CB3129A8B64}" destId="{53FA839D-CDB2-4438-A1F4-937D54443232}" srcOrd="0" destOrd="0" presId="urn:microsoft.com/office/officeart/2018/2/layout/IconCircleList"/>
    <dgm:cxn modelId="{951DC123-45EE-40F0-857C-95BD647376C3}" type="presOf" srcId="{E79EABB1-9366-4F01-A420-153E8EA4566F}" destId="{576810E6-69AF-4EEB-BF2B-B7E452699F80}" srcOrd="0" destOrd="0" presId="urn:microsoft.com/office/officeart/2018/2/layout/IconCircleList"/>
    <dgm:cxn modelId="{6FA49D27-C7CA-4FCE-B3D3-1D511294310D}" type="presOf" srcId="{4DBB5EEB-2812-4C87-96DF-96D04A7162AE}" destId="{1AF81A32-15A7-476F-A646-76F420CEEADE}" srcOrd="0" destOrd="0" presId="urn:microsoft.com/office/officeart/2018/2/layout/IconCircleList"/>
    <dgm:cxn modelId="{1AFF2435-16F0-4A86-A8E2-A9DCA0DB4AD1}" type="presOf" srcId="{FCE75C52-10A6-45CA-BBF4-05E2205B8544}" destId="{1B810EEF-5F74-43F6-8D54-3C381B549D5D}" srcOrd="0" destOrd="0" presId="urn:microsoft.com/office/officeart/2018/2/layout/IconCircleList"/>
    <dgm:cxn modelId="{1364284C-D619-4400-924E-1DFFBC9D6576}" srcId="{89D90768-5D52-41EA-AE90-75952D0736F2}" destId="{E79EABB1-9366-4F01-A420-153E8EA4566F}" srcOrd="3" destOrd="0" parTransId="{98F844EE-BC2B-4500-B751-7016A70AB4E0}" sibTransId="{4DBB5EEB-2812-4C87-96DF-96D04A7162AE}"/>
    <dgm:cxn modelId="{5F506A70-A017-47C9-A6EE-18BC3E3CC718}" type="presOf" srcId="{4CA0B84E-AA6E-4C15-B34D-E48CFC4146F4}" destId="{AE653078-0102-4989-8C80-319E7743F067}" srcOrd="0" destOrd="0" presId="urn:microsoft.com/office/officeart/2018/2/layout/IconCircleList"/>
    <dgm:cxn modelId="{94EC4751-0823-4DEE-8DA1-5CCFBFA073A8}" type="presOf" srcId="{8F653B18-8F9D-4EA0-B307-91ED670B3FED}" destId="{2D472858-E569-465B-B5D1-FF5882EF5198}" srcOrd="0" destOrd="0" presId="urn:microsoft.com/office/officeart/2018/2/layout/IconCircleList"/>
    <dgm:cxn modelId="{B16DD154-088C-4DF1-9263-E4E570306761}" srcId="{89D90768-5D52-41EA-AE90-75952D0736F2}" destId="{FCE75C52-10A6-45CA-BBF4-05E2205B8544}" srcOrd="0" destOrd="0" parTransId="{F18B0640-B0B1-4CD1-A251-E6A0321B34DB}" sibTransId="{4CA0B84E-AA6E-4C15-B34D-E48CFC4146F4}"/>
    <dgm:cxn modelId="{29AEC681-1972-440F-9472-A273ABF244A2}" type="presOf" srcId="{5DF89E9F-C346-4EFC-845D-D1A6B30681FF}" destId="{5BE7CA6B-3047-4F8D-9086-508CCB05CF3F}" srcOrd="0" destOrd="0" presId="urn:microsoft.com/office/officeart/2018/2/layout/IconCircleList"/>
    <dgm:cxn modelId="{22CEFC8C-81E5-4553-91D6-C638BD8BB08E}" type="presOf" srcId="{95450DA7-0032-45A2-A4A9-0B29B1E55030}" destId="{D2BFC7E1-D174-4063-90CA-B578E00C9144}" srcOrd="0" destOrd="0" presId="urn:microsoft.com/office/officeart/2018/2/layout/IconCircleList"/>
    <dgm:cxn modelId="{934D1393-AD4A-4977-AA62-3064F3E6B155}" type="presOf" srcId="{89D90768-5D52-41EA-AE90-75952D0736F2}" destId="{87609F03-7F22-4737-95A1-B310EA0A87EE}" srcOrd="0" destOrd="0" presId="urn:microsoft.com/office/officeart/2018/2/layout/IconCircleList"/>
    <dgm:cxn modelId="{58581CAF-23F5-4D2D-901D-89CE00346972}" srcId="{89D90768-5D52-41EA-AE90-75952D0736F2}" destId="{F4981270-05FC-4ABF-B327-ABCAC5152AB6}" srcOrd="4" destOrd="0" parTransId="{981F3B7A-842C-4BB2-AC33-B0BF06799191}" sibTransId="{5DF89E9F-C346-4EFC-845D-D1A6B30681FF}"/>
    <dgm:cxn modelId="{74C343B4-E328-49F1-AFED-5262148A76B5}" type="presOf" srcId="{845DB370-E818-454D-B393-5EF78D43DFEF}" destId="{D55DB0A6-347D-4752-83C6-6CC0FD5BCD09}" srcOrd="0" destOrd="0" presId="urn:microsoft.com/office/officeart/2018/2/layout/IconCircleList"/>
    <dgm:cxn modelId="{D82DAFBE-9871-42DA-9059-1E74FDE9498A}" type="presOf" srcId="{F4981270-05FC-4ABF-B327-ABCAC5152AB6}" destId="{8B3D6463-FF70-4B49-8D28-3E55591050C2}" srcOrd="0" destOrd="0" presId="urn:microsoft.com/office/officeart/2018/2/layout/IconCircleList"/>
    <dgm:cxn modelId="{C5D2CBC2-C416-4713-9379-5C2DF487D3F1}" srcId="{89D90768-5D52-41EA-AE90-75952D0736F2}" destId="{ED361A47-A758-482B-81AE-3CB3129A8B64}" srcOrd="6" destOrd="0" parTransId="{06C9CC91-A336-4803-A5EE-739327E03B9D}" sibTransId="{A5B72572-4A6E-4A3B-A8CB-D307E92EA695}"/>
    <dgm:cxn modelId="{D3CA19C4-E3D9-4175-9725-028FF852AD97}" srcId="{89D90768-5D52-41EA-AE90-75952D0736F2}" destId="{C83F4C88-A0F0-454F-8D31-5F6B186E65C0}" srcOrd="1" destOrd="0" parTransId="{1CE904C6-8E42-41E5-BF13-67FB7466BD41}" sibTransId="{95450DA7-0032-45A2-A4A9-0B29B1E55030}"/>
    <dgm:cxn modelId="{2DEFE7C8-D14C-482A-BE0A-E238865FD08D}" srcId="{89D90768-5D52-41EA-AE90-75952D0736F2}" destId="{845DB370-E818-454D-B393-5EF78D43DFEF}" srcOrd="2" destOrd="0" parTransId="{29DE76F0-7B2F-4D3D-8631-BC14045F7CDE}" sibTransId="{8F653B18-8F9D-4EA0-B307-91ED670B3FED}"/>
    <dgm:cxn modelId="{F7FA14D9-03E9-407D-9B18-DF0C7FCBFFDA}" type="presOf" srcId="{651CA871-8940-479D-8C61-8E53D7587F17}" destId="{CEADD3BF-017A-41C8-A9D0-2248CEE01EBF}" srcOrd="0" destOrd="0" presId="urn:microsoft.com/office/officeart/2018/2/layout/IconCircleList"/>
    <dgm:cxn modelId="{944EDCEA-C0EF-4E6F-B6CA-131DC4C45F72}" type="presOf" srcId="{C83F4C88-A0F0-454F-8D31-5F6B186E65C0}" destId="{7C3BF7AE-E40B-4187-ADBF-9CEDA080147C}" srcOrd="0" destOrd="0" presId="urn:microsoft.com/office/officeart/2018/2/layout/IconCircleList"/>
    <dgm:cxn modelId="{88FC89BF-EC0A-4740-84AF-36D37ECC9C3B}" type="presParOf" srcId="{87609F03-7F22-4737-95A1-B310EA0A87EE}" destId="{408D0B33-E220-49E9-8C11-9C1ECCAC6B71}" srcOrd="0" destOrd="0" presId="urn:microsoft.com/office/officeart/2018/2/layout/IconCircleList"/>
    <dgm:cxn modelId="{F7F4E6C5-E8CB-491B-BA3D-E89FCABC1E63}" type="presParOf" srcId="{408D0B33-E220-49E9-8C11-9C1ECCAC6B71}" destId="{DD997E78-E00B-434E-B770-6F46F3A92F61}" srcOrd="0" destOrd="0" presId="urn:microsoft.com/office/officeart/2018/2/layout/IconCircleList"/>
    <dgm:cxn modelId="{921D8D60-0172-411A-ABE9-7987BAB84D5A}" type="presParOf" srcId="{DD997E78-E00B-434E-B770-6F46F3A92F61}" destId="{9D3C0906-019C-4528-B37B-8647C1B97C3F}" srcOrd="0" destOrd="0" presId="urn:microsoft.com/office/officeart/2018/2/layout/IconCircleList"/>
    <dgm:cxn modelId="{1B90CF29-FCEB-4913-BB54-9BC16C3D12CA}" type="presParOf" srcId="{DD997E78-E00B-434E-B770-6F46F3A92F61}" destId="{F08C701A-0A16-49B8-9C70-10C91144AAB5}" srcOrd="1" destOrd="0" presId="urn:microsoft.com/office/officeart/2018/2/layout/IconCircleList"/>
    <dgm:cxn modelId="{E39E80AB-F443-4B0B-9AB6-82261910E398}" type="presParOf" srcId="{DD997E78-E00B-434E-B770-6F46F3A92F61}" destId="{907D73C9-4EB3-46EE-AF8A-AB7A2FF13DE2}" srcOrd="2" destOrd="0" presId="urn:microsoft.com/office/officeart/2018/2/layout/IconCircleList"/>
    <dgm:cxn modelId="{B650799B-357E-4A3E-9020-4E53698B138D}" type="presParOf" srcId="{DD997E78-E00B-434E-B770-6F46F3A92F61}" destId="{1B810EEF-5F74-43F6-8D54-3C381B549D5D}" srcOrd="3" destOrd="0" presId="urn:microsoft.com/office/officeart/2018/2/layout/IconCircleList"/>
    <dgm:cxn modelId="{F5552DCD-F016-4F85-B68C-AC8EADE274B2}" type="presParOf" srcId="{408D0B33-E220-49E9-8C11-9C1ECCAC6B71}" destId="{AE653078-0102-4989-8C80-319E7743F067}" srcOrd="1" destOrd="0" presId="urn:microsoft.com/office/officeart/2018/2/layout/IconCircleList"/>
    <dgm:cxn modelId="{78629ACB-69C5-4C8C-885A-FA5C2501BF06}" type="presParOf" srcId="{408D0B33-E220-49E9-8C11-9C1ECCAC6B71}" destId="{1B65CCA9-A4D4-462A-B8F5-9C39A195C886}" srcOrd="2" destOrd="0" presId="urn:microsoft.com/office/officeart/2018/2/layout/IconCircleList"/>
    <dgm:cxn modelId="{71E83133-9389-4EBD-9173-888EFC73CDAA}" type="presParOf" srcId="{1B65CCA9-A4D4-462A-B8F5-9C39A195C886}" destId="{66BD3128-F04A-4F8D-852B-5672EEB038D6}" srcOrd="0" destOrd="0" presId="urn:microsoft.com/office/officeart/2018/2/layout/IconCircleList"/>
    <dgm:cxn modelId="{71F37C14-82EF-4829-ABBB-B431EB2C0D05}" type="presParOf" srcId="{1B65CCA9-A4D4-462A-B8F5-9C39A195C886}" destId="{EF0C3FC8-0E68-45F7-830C-853C7C8D0B6E}" srcOrd="1" destOrd="0" presId="urn:microsoft.com/office/officeart/2018/2/layout/IconCircleList"/>
    <dgm:cxn modelId="{FF1932DA-B9AB-407F-B59B-874E88C9EC4A}" type="presParOf" srcId="{1B65CCA9-A4D4-462A-B8F5-9C39A195C886}" destId="{F77C6490-D126-43E5-AD43-62DE92F3C7D4}" srcOrd="2" destOrd="0" presId="urn:microsoft.com/office/officeart/2018/2/layout/IconCircleList"/>
    <dgm:cxn modelId="{7BF79EFA-08CC-4444-A0E4-EF18E9880A8F}" type="presParOf" srcId="{1B65CCA9-A4D4-462A-B8F5-9C39A195C886}" destId="{7C3BF7AE-E40B-4187-ADBF-9CEDA080147C}" srcOrd="3" destOrd="0" presId="urn:microsoft.com/office/officeart/2018/2/layout/IconCircleList"/>
    <dgm:cxn modelId="{871A1F26-3D4E-41E3-B0B4-3E2A67BD5E3A}" type="presParOf" srcId="{408D0B33-E220-49E9-8C11-9C1ECCAC6B71}" destId="{D2BFC7E1-D174-4063-90CA-B578E00C9144}" srcOrd="3" destOrd="0" presId="urn:microsoft.com/office/officeart/2018/2/layout/IconCircleList"/>
    <dgm:cxn modelId="{743392FF-8F83-45C3-BD98-249625A28EBF}" type="presParOf" srcId="{408D0B33-E220-49E9-8C11-9C1ECCAC6B71}" destId="{F38D5457-B517-48B4-9DEC-8FFFE4184EDC}" srcOrd="4" destOrd="0" presId="urn:microsoft.com/office/officeart/2018/2/layout/IconCircleList"/>
    <dgm:cxn modelId="{5F9C3F91-432C-4215-B0AD-F94A0B75776F}" type="presParOf" srcId="{F38D5457-B517-48B4-9DEC-8FFFE4184EDC}" destId="{C368D6EE-3B19-4C1C-97DF-39E49ABCDBBC}" srcOrd="0" destOrd="0" presId="urn:microsoft.com/office/officeart/2018/2/layout/IconCircleList"/>
    <dgm:cxn modelId="{956143F1-5E2D-4386-B283-7B2B1B446164}" type="presParOf" srcId="{F38D5457-B517-48B4-9DEC-8FFFE4184EDC}" destId="{C8A7C9A5-6B5D-446D-B045-3FE01DB05F69}" srcOrd="1" destOrd="0" presId="urn:microsoft.com/office/officeart/2018/2/layout/IconCircleList"/>
    <dgm:cxn modelId="{044AC012-16B2-499C-BA06-94580E1581A3}" type="presParOf" srcId="{F38D5457-B517-48B4-9DEC-8FFFE4184EDC}" destId="{75D071AB-C6C9-4466-AB26-2078F81C47D3}" srcOrd="2" destOrd="0" presId="urn:microsoft.com/office/officeart/2018/2/layout/IconCircleList"/>
    <dgm:cxn modelId="{59814214-9F78-495D-8D07-ACCA44DC2224}" type="presParOf" srcId="{F38D5457-B517-48B4-9DEC-8FFFE4184EDC}" destId="{D55DB0A6-347D-4752-83C6-6CC0FD5BCD09}" srcOrd="3" destOrd="0" presId="urn:microsoft.com/office/officeart/2018/2/layout/IconCircleList"/>
    <dgm:cxn modelId="{30EFE1FB-B0F9-4A2F-ADF8-1CC825C0980E}" type="presParOf" srcId="{408D0B33-E220-49E9-8C11-9C1ECCAC6B71}" destId="{2D472858-E569-465B-B5D1-FF5882EF5198}" srcOrd="5" destOrd="0" presId="urn:microsoft.com/office/officeart/2018/2/layout/IconCircleList"/>
    <dgm:cxn modelId="{5246164F-5710-49D2-87F6-55226AEE444A}" type="presParOf" srcId="{408D0B33-E220-49E9-8C11-9C1ECCAC6B71}" destId="{B35A0050-9617-4603-8AC2-AE0E4671E288}" srcOrd="6" destOrd="0" presId="urn:microsoft.com/office/officeart/2018/2/layout/IconCircleList"/>
    <dgm:cxn modelId="{67E44891-1F38-4E01-B1CC-16B071FE5651}" type="presParOf" srcId="{B35A0050-9617-4603-8AC2-AE0E4671E288}" destId="{A4ABE26B-B652-4A5F-AD8E-5B52035E46A6}" srcOrd="0" destOrd="0" presId="urn:microsoft.com/office/officeart/2018/2/layout/IconCircleList"/>
    <dgm:cxn modelId="{88F915D4-7983-4F39-9271-F0D490344A3D}" type="presParOf" srcId="{B35A0050-9617-4603-8AC2-AE0E4671E288}" destId="{B40BA90F-C0E3-4859-8120-6A9A2B1EFC11}" srcOrd="1" destOrd="0" presId="urn:microsoft.com/office/officeart/2018/2/layout/IconCircleList"/>
    <dgm:cxn modelId="{3D96A9D0-CC51-488C-9F7F-A5CE7E86C92A}" type="presParOf" srcId="{B35A0050-9617-4603-8AC2-AE0E4671E288}" destId="{60A6B06A-422E-431D-8AC2-ABC42CE7037E}" srcOrd="2" destOrd="0" presId="urn:microsoft.com/office/officeart/2018/2/layout/IconCircleList"/>
    <dgm:cxn modelId="{7AF8B57A-57AC-4D17-87F7-6A466DF48D81}" type="presParOf" srcId="{B35A0050-9617-4603-8AC2-AE0E4671E288}" destId="{576810E6-69AF-4EEB-BF2B-B7E452699F80}" srcOrd="3" destOrd="0" presId="urn:microsoft.com/office/officeart/2018/2/layout/IconCircleList"/>
    <dgm:cxn modelId="{EC7A750C-54AC-4D7D-8A7D-EEAFAF6767C0}" type="presParOf" srcId="{408D0B33-E220-49E9-8C11-9C1ECCAC6B71}" destId="{1AF81A32-15A7-476F-A646-76F420CEEADE}" srcOrd="7" destOrd="0" presId="urn:microsoft.com/office/officeart/2018/2/layout/IconCircleList"/>
    <dgm:cxn modelId="{206AAC9B-09AE-4A58-9826-161197BE8DBE}" type="presParOf" srcId="{408D0B33-E220-49E9-8C11-9C1ECCAC6B71}" destId="{5E715F63-E0B3-4816-A0E7-249B142D05D8}" srcOrd="8" destOrd="0" presId="urn:microsoft.com/office/officeart/2018/2/layout/IconCircleList"/>
    <dgm:cxn modelId="{366BE0C1-0B2B-4E7D-9F79-D7FE1DF137DD}" type="presParOf" srcId="{5E715F63-E0B3-4816-A0E7-249B142D05D8}" destId="{32045C59-9EE9-4592-9922-307E3E99B053}" srcOrd="0" destOrd="0" presId="urn:microsoft.com/office/officeart/2018/2/layout/IconCircleList"/>
    <dgm:cxn modelId="{4361856E-5CB4-4119-8C33-53290EEAEE02}" type="presParOf" srcId="{5E715F63-E0B3-4816-A0E7-249B142D05D8}" destId="{49D07979-59A2-493A-BD1A-F82611EC719B}" srcOrd="1" destOrd="0" presId="urn:microsoft.com/office/officeart/2018/2/layout/IconCircleList"/>
    <dgm:cxn modelId="{29F6D7A9-BF74-4190-A0D9-418F900BBBF8}" type="presParOf" srcId="{5E715F63-E0B3-4816-A0E7-249B142D05D8}" destId="{39CB0D46-5853-4A8B-A07F-8CF20D0D44EE}" srcOrd="2" destOrd="0" presId="urn:microsoft.com/office/officeart/2018/2/layout/IconCircleList"/>
    <dgm:cxn modelId="{57917F3E-7409-498D-8FE2-4D0C516EA60E}" type="presParOf" srcId="{5E715F63-E0B3-4816-A0E7-249B142D05D8}" destId="{8B3D6463-FF70-4B49-8D28-3E55591050C2}" srcOrd="3" destOrd="0" presId="urn:microsoft.com/office/officeart/2018/2/layout/IconCircleList"/>
    <dgm:cxn modelId="{6FC1E824-30A1-41E5-9AD6-6FE08D264E16}" type="presParOf" srcId="{408D0B33-E220-49E9-8C11-9C1ECCAC6B71}" destId="{5BE7CA6B-3047-4F8D-9086-508CCB05CF3F}" srcOrd="9" destOrd="0" presId="urn:microsoft.com/office/officeart/2018/2/layout/IconCircleList"/>
    <dgm:cxn modelId="{91D4B8FE-86A8-4C42-90AA-D4D1A051475B}" type="presParOf" srcId="{408D0B33-E220-49E9-8C11-9C1ECCAC6B71}" destId="{1A282E95-D547-422F-912A-0C9C7F40B549}" srcOrd="10" destOrd="0" presId="urn:microsoft.com/office/officeart/2018/2/layout/IconCircleList"/>
    <dgm:cxn modelId="{CF8EDB7F-A1BA-40B9-8873-AF855B1FE7C3}" type="presParOf" srcId="{1A282E95-D547-422F-912A-0C9C7F40B549}" destId="{BC633B8F-3ED7-4EDB-89F8-B300DE797B82}" srcOrd="0" destOrd="0" presId="urn:microsoft.com/office/officeart/2018/2/layout/IconCircleList"/>
    <dgm:cxn modelId="{82C66BA4-1AB9-4BF5-BAE8-BCAF9BC6C292}" type="presParOf" srcId="{1A282E95-D547-422F-912A-0C9C7F40B549}" destId="{04BA2E4E-1342-490F-B6CE-02606CA56612}" srcOrd="1" destOrd="0" presId="urn:microsoft.com/office/officeart/2018/2/layout/IconCircleList"/>
    <dgm:cxn modelId="{8B1A4826-7ED0-4668-9C2F-0A912C1943E9}" type="presParOf" srcId="{1A282E95-D547-422F-912A-0C9C7F40B549}" destId="{D1D6E580-B643-4AC0-86ED-18C64111D6F7}" srcOrd="2" destOrd="0" presId="urn:microsoft.com/office/officeart/2018/2/layout/IconCircleList"/>
    <dgm:cxn modelId="{71BFBBB2-454C-48CC-A325-6CBC7AA9CCF2}" type="presParOf" srcId="{1A282E95-D547-422F-912A-0C9C7F40B549}" destId="{ED2F2587-AA48-416B-AFBE-9020F9EBE5D5}" srcOrd="3" destOrd="0" presId="urn:microsoft.com/office/officeart/2018/2/layout/IconCircleList"/>
    <dgm:cxn modelId="{A82E8164-DD8A-4B4D-95FE-D95BCB243680}" type="presParOf" srcId="{408D0B33-E220-49E9-8C11-9C1ECCAC6B71}" destId="{CEADD3BF-017A-41C8-A9D0-2248CEE01EBF}" srcOrd="11" destOrd="0" presId="urn:microsoft.com/office/officeart/2018/2/layout/IconCircleList"/>
    <dgm:cxn modelId="{55B4FC5C-BC73-4EFF-A44C-03142C9F1126}" type="presParOf" srcId="{408D0B33-E220-49E9-8C11-9C1ECCAC6B71}" destId="{17DBDDCE-593E-45E3-8BC4-C82D5FD82249}" srcOrd="12" destOrd="0" presId="urn:microsoft.com/office/officeart/2018/2/layout/IconCircleList"/>
    <dgm:cxn modelId="{D1153451-B97D-4CF8-92D1-088A88F3B571}" type="presParOf" srcId="{17DBDDCE-593E-45E3-8BC4-C82D5FD82249}" destId="{11253479-25B8-4C0B-9334-38EC5D792155}" srcOrd="0" destOrd="0" presId="urn:microsoft.com/office/officeart/2018/2/layout/IconCircleList"/>
    <dgm:cxn modelId="{B82C6EC7-2DFA-413F-8692-48D02DFF01F9}" type="presParOf" srcId="{17DBDDCE-593E-45E3-8BC4-C82D5FD82249}" destId="{95AA1661-B795-4161-8A77-D629D3B73F74}" srcOrd="1" destOrd="0" presId="urn:microsoft.com/office/officeart/2018/2/layout/IconCircleList"/>
    <dgm:cxn modelId="{2F3BBC03-79BB-4EF1-9A7A-DE8D1D4F169C}" type="presParOf" srcId="{17DBDDCE-593E-45E3-8BC4-C82D5FD82249}" destId="{873707CF-C4C2-4F50-AC62-437D3652F197}" srcOrd="2" destOrd="0" presId="urn:microsoft.com/office/officeart/2018/2/layout/IconCircleList"/>
    <dgm:cxn modelId="{77CCC977-126C-43FD-8D94-6BB7083F2B37}" type="presParOf" srcId="{17DBDDCE-593E-45E3-8BC4-C82D5FD82249}" destId="{53FA839D-CDB2-4438-A1F4-937D54443232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3C0906-019C-4528-B37B-8647C1B97C3F}">
      <dsp:nvSpPr>
        <dsp:cNvPr id="0" name=""/>
        <dsp:cNvSpPr/>
      </dsp:nvSpPr>
      <dsp:spPr>
        <a:xfrm>
          <a:off x="178775" y="109831"/>
          <a:ext cx="655158" cy="65515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8C701A-0A16-49B8-9C70-10C91144AAB5}">
      <dsp:nvSpPr>
        <dsp:cNvPr id="0" name=""/>
        <dsp:cNvSpPr/>
      </dsp:nvSpPr>
      <dsp:spPr>
        <a:xfrm>
          <a:off x="316359" y="247414"/>
          <a:ext cx="379992" cy="37999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810EEF-5F74-43F6-8D54-3C381B549D5D}">
      <dsp:nvSpPr>
        <dsp:cNvPr id="0" name=""/>
        <dsp:cNvSpPr/>
      </dsp:nvSpPr>
      <dsp:spPr>
        <a:xfrm>
          <a:off x="974325" y="109831"/>
          <a:ext cx="1544302" cy="6551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Principais Descobertas</a:t>
          </a:r>
        </a:p>
      </dsp:txBody>
      <dsp:txXfrm>
        <a:off x="974325" y="109831"/>
        <a:ext cx="1544302" cy="655158"/>
      </dsp:txXfrm>
    </dsp:sp>
    <dsp:sp modelId="{66BD3128-F04A-4F8D-852B-5672EEB038D6}">
      <dsp:nvSpPr>
        <dsp:cNvPr id="0" name=""/>
        <dsp:cNvSpPr/>
      </dsp:nvSpPr>
      <dsp:spPr>
        <a:xfrm>
          <a:off x="2787711" y="109831"/>
          <a:ext cx="655158" cy="65515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0C3FC8-0E68-45F7-830C-853C7C8D0B6E}">
      <dsp:nvSpPr>
        <dsp:cNvPr id="0" name=""/>
        <dsp:cNvSpPr/>
      </dsp:nvSpPr>
      <dsp:spPr>
        <a:xfrm>
          <a:off x="2925294" y="247414"/>
          <a:ext cx="379992" cy="37999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3BF7AE-E40B-4187-ADBF-9CEDA080147C}">
      <dsp:nvSpPr>
        <dsp:cNvPr id="0" name=""/>
        <dsp:cNvSpPr/>
      </dsp:nvSpPr>
      <dsp:spPr>
        <a:xfrm>
          <a:off x="3583261" y="109831"/>
          <a:ext cx="1544302" cy="6551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- Padrões de preço</a:t>
          </a:r>
        </a:p>
      </dsp:txBody>
      <dsp:txXfrm>
        <a:off x="3583261" y="109831"/>
        <a:ext cx="1544302" cy="655158"/>
      </dsp:txXfrm>
    </dsp:sp>
    <dsp:sp modelId="{C368D6EE-3B19-4C1C-97DF-39E49ABCDBBC}">
      <dsp:nvSpPr>
        <dsp:cNvPr id="0" name=""/>
        <dsp:cNvSpPr/>
      </dsp:nvSpPr>
      <dsp:spPr>
        <a:xfrm>
          <a:off x="5396646" y="109831"/>
          <a:ext cx="655158" cy="65515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A7C9A5-6B5D-446D-B045-3FE01DB05F69}">
      <dsp:nvSpPr>
        <dsp:cNvPr id="0" name=""/>
        <dsp:cNvSpPr/>
      </dsp:nvSpPr>
      <dsp:spPr>
        <a:xfrm>
          <a:off x="5534230" y="247414"/>
          <a:ext cx="379992" cy="37999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5DB0A6-347D-4752-83C6-6CC0FD5BCD09}">
      <dsp:nvSpPr>
        <dsp:cNvPr id="0" name=""/>
        <dsp:cNvSpPr/>
      </dsp:nvSpPr>
      <dsp:spPr>
        <a:xfrm>
          <a:off x="6192196" y="109831"/>
          <a:ext cx="1544302" cy="6551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- Preferências do mercado</a:t>
          </a:r>
        </a:p>
      </dsp:txBody>
      <dsp:txXfrm>
        <a:off x="6192196" y="109831"/>
        <a:ext cx="1544302" cy="655158"/>
      </dsp:txXfrm>
    </dsp:sp>
    <dsp:sp modelId="{A4ABE26B-B652-4A5F-AD8E-5B52035E46A6}">
      <dsp:nvSpPr>
        <dsp:cNvPr id="0" name=""/>
        <dsp:cNvSpPr/>
      </dsp:nvSpPr>
      <dsp:spPr>
        <a:xfrm>
          <a:off x="178775" y="1327828"/>
          <a:ext cx="655158" cy="65515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0BA90F-C0E3-4859-8120-6A9A2B1EFC11}">
      <dsp:nvSpPr>
        <dsp:cNvPr id="0" name=""/>
        <dsp:cNvSpPr/>
      </dsp:nvSpPr>
      <dsp:spPr>
        <a:xfrm>
          <a:off x="316359" y="1465411"/>
          <a:ext cx="379992" cy="37999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6810E6-69AF-4EEB-BF2B-B7E452699F80}">
      <dsp:nvSpPr>
        <dsp:cNvPr id="0" name=""/>
        <dsp:cNvSpPr/>
      </dsp:nvSpPr>
      <dsp:spPr>
        <a:xfrm>
          <a:off x="974325" y="1327828"/>
          <a:ext cx="1544302" cy="6551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- Insights geográficos</a:t>
          </a:r>
        </a:p>
      </dsp:txBody>
      <dsp:txXfrm>
        <a:off x="974325" y="1327828"/>
        <a:ext cx="1544302" cy="655158"/>
      </dsp:txXfrm>
    </dsp:sp>
    <dsp:sp modelId="{32045C59-9EE9-4592-9922-307E3E99B053}">
      <dsp:nvSpPr>
        <dsp:cNvPr id="0" name=""/>
        <dsp:cNvSpPr/>
      </dsp:nvSpPr>
      <dsp:spPr>
        <a:xfrm>
          <a:off x="2787711" y="1327828"/>
          <a:ext cx="655158" cy="65515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D07979-59A2-493A-BD1A-F82611EC719B}">
      <dsp:nvSpPr>
        <dsp:cNvPr id="0" name=""/>
        <dsp:cNvSpPr/>
      </dsp:nvSpPr>
      <dsp:spPr>
        <a:xfrm>
          <a:off x="2925294" y="1465411"/>
          <a:ext cx="379992" cy="37999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3D6463-FF70-4B49-8D28-3E55591050C2}">
      <dsp:nvSpPr>
        <dsp:cNvPr id="0" name=""/>
        <dsp:cNvSpPr/>
      </dsp:nvSpPr>
      <dsp:spPr>
        <a:xfrm>
          <a:off x="3583261" y="1327828"/>
          <a:ext cx="1544302" cy="6551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Próximos Passos</a:t>
          </a:r>
        </a:p>
      </dsp:txBody>
      <dsp:txXfrm>
        <a:off x="3583261" y="1327828"/>
        <a:ext cx="1544302" cy="655158"/>
      </dsp:txXfrm>
    </dsp:sp>
    <dsp:sp modelId="{BC633B8F-3ED7-4EDB-89F8-B300DE797B82}">
      <dsp:nvSpPr>
        <dsp:cNvPr id="0" name=""/>
        <dsp:cNvSpPr/>
      </dsp:nvSpPr>
      <dsp:spPr>
        <a:xfrm>
          <a:off x="5396646" y="1327828"/>
          <a:ext cx="655158" cy="65515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BA2E4E-1342-490F-B6CE-02606CA56612}">
      <dsp:nvSpPr>
        <dsp:cNvPr id="0" name=""/>
        <dsp:cNvSpPr/>
      </dsp:nvSpPr>
      <dsp:spPr>
        <a:xfrm>
          <a:off x="5534230" y="1465411"/>
          <a:ext cx="379992" cy="379992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2F2587-AA48-416B-AFBE-9020F9EBE5D5}">
      <dsp:nvSpPr>
        <dsp:cNvPr id="0" name=""/>
        <dsp:cNvSpPr/>
      </dsp:nvSpPr>
      <dsp:spPr>
        <a:xfrm>
          <a:off x="6192196" y="1327828"/>
          <a:ext cx="1544302" cy="6551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- Melhorias sugeridas</a:t>
          </a:r>
        </a:p>
      </dsp:txBody>
      <dsp:txXfrm>
        <a:off x="6192196" y="1327828"/>
        <a:ext cx="1544302" cy="655158"/>
      </dsp:txXfrm>
    </dsp:sp>
    <dsp:sp modelId="{11253479-25B8-4C0B-9334-38EC5D792155}">
      <dsp:nvSpPr>
        <dsp:cNvPr id="0" name=""/>
        <dsp:cNvSpPr/>
      </dsp:nvSpPr>
      <dsp:spPr>
        <a:xfrm>
          <a:off x="178775" y="2545826"/>
          <a:ext cx="655158" cy="65515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AA1661-B795-4161-8A77-D629D3B73F74}">
      <dsp:nvSpPr>
        <dsp:cNvPr id="0" name=""/>
        <dsp:cNvSpPr/>
      </dsp:nvSpPr>
      <dsp:spPr>
        <a:xfrm>
          <a:off x="316359" y="2683409"/>
          <a:ext cx="379992" cy="379992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FA839D-CDB2-4438-A1F4-937D54443232}">
      <dsp:nvSpPr>
        <dsp:cNvPr id="0" name=""/>
        <dsp:cNvSpPr/>
      </dsp:nvSpPr>
      <dsp:spPr>
        <a:xfrm>
          <a:off x="974325" y="2545826"/>
          <a:ext cx="1544302" cy="6551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- Novas análises</a:t>
          </a:r>
        </a:p>
      </dsp:txBody>
      <dsp:txXfrm>
        <a:off x="974325" y="2545826"/>
        <a:ext cx="1544302" cy="6551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A1D8F5-7734-45CE-B456-8D5806CBE101}" type="datetimeFigureOut">
              <a:rPr lang="pt-BR" smtClean="0"/>
              <a:t>10/04/2025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85A850-4536-44EA-BE03-720297BFB9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8830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85A850-4536-44EA-BE03-720297BFB9D8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9263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150"/>
              </a:spcBef>
              <a:spcAft>
                <a:spcPts val="150"/>
              </a:spcAft>
              <a:buFont typeface="+mj-lt"/>
              <a:buAutoNum type="arabicPeriod"/>
            </a:pPr>
            <a:r>
              <a:rPr lang="pt-BR" dirty="0"/>
              <a:t>Baseado na busca realizada, posso explicar em detalhes o processo de ETL e criação da ABT no projeto. O sistema está estruturado em várias camadas de análise, com diferentes classes e funções </a:t>
            </a:r>
            <a:r>
              <a:rPr lang="pt-BR" dirty="0" err="1"/>
              <a:t>especializadas:</a:t>
            </a:r>
            <a:r>
              <a:rPr lang="pt-BR" b="1" dirty="0" err="1">
                <a:effectLst/>
              </a:rPr>
              <a:t>Extração</a:t>
            </a:r>
            <a:r>
              <a:rPr lang="pt-BR" b="1" dirty="0">
                <a:effectLst/>
              </a:rPr>
              <a:t> de Dados (</a:t>
            </a:r>
            <a:r>
              <a:rPr lang="pt-BR" b="1" dirty="0" err="1">
                <a:effectLst/>
              </a:rPr>
              <a:t>Extract</a:t>
            </a:r>
            <a:r>
              <a:rPr lang="pt-BR" b="1" dirty="0">
                <a:effectLst/>
              </a:rPr>
              <a:t>)</a:t>
            </a:r>
            <a:r>
              <a:rPr lang="pt-BR" dirty="0">
                <a:effectLst/>
              </a:rPr>
              <a:t>: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dirty="0">
                <a:effectLst/>
              </a:rPr>
              <a:t>Os dados são extraídos principalmente através de conexões SQL, como visto na classe </a:t>
            </a:r>
            <a:r>
              <a:rPr lang="pt-BR" dirty="0" err="1">
                <a:effectLst/>
                <a:latin typeface="Consolas" panose="020B0609020204030204" pitchFamily="49" charset="0"/>
              </a:rPr>
              <a:t>CarMarketAnalyzer</a:t>
            </a:r>
            <a:r>
              <a:rPr lang="pt-BR" dirty="0">
                <a:effectLst/>
              </a:rPr>
              <a:t> em </a:t>
            </a:r>
            <a:r>
              <a:rPr lang="pt-BR" dirty="0">
                <a:effectLst/>
                <a:latin typeface="Consolas" panose="020B0609020204030204" pitchFamily="49" charset="0"/>
              </a:rPr>
              <a:t>sql_analysis.py</a:t>
            </a:r>
            <a:endParaRPr lang="pt-BR" dirty="0">
              <a:effectLst/>
            </a:endParaRP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dirty="0">
                <a:effectLst/>
              </a:rPr>
              <a:t>Utiliza-se </a:t>
            </a:r>
            <a:r>
              <a:rPr lang="pt-BR" dirty="0" err="1">
                <a:effectLst/>
              </a:rPr>
              <a:t>SQLAlchemy</a:t>
            </a:r>
            <a:r>
              <a:rPr lang="pt-BR" dirty="0">
                <a:effectLst/>
              </a:rPr>
              <a:t> para estabelecer conexões com o banco de dados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dirty="0">
                <a:effectLst/>
              </a:rPr>
              <a:t>Os dados são carregados em </a:t>
            </a:r>
            <a:r>
              <a:rPr lang="pt-BR" dirty="0" err="1">
                <a:effectLst/>
              </a:rPr>
              <a:t>DataFrames</a:t>
            </a:r>
            <a:r>
              <a:rPr lang="pt-BR" dirty="0">
                <a:effectLst/>
              </a:rPr>
              <a:t> do pandas para processamento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85A850-4536-44EA-BE03-720297BFB9D8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12062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300"/>
              </a:spcBef>
              <a:spcAft>
                <a:spcPts val="300"/>
              </a:spcAft>
              <a:buNone/>
            </a:pPr>
            <a:br>
              <a:rPr lang="pt-BR" dirty="0"/>
            </a:br>
            <a:r>
              <a:rPr lang="pt-BR" b="0" i="0" dirty="0">
                <a:solidFill>
                  <a:srgbClr val="D8DEE9"/>
                </a:solidFill>
                <a:effectLst/>
                <a:latin typeface="Segoe WPC"/>
              </a:rPr>
              <a:t>A ABT é uma tabela consolidada que contém todos os dados necessários para análise, com as devidas transformações e enriquecimentos. Vou detalhar o processo:</a:t>
            </a:r>
            <a:br>
              <a:rPr lang="pt-BR" b="0" i="0" dirty="0">
                <a:solidFill>
                  <a:srgbClr val="D8DEE9"/>
                </a:solidFill>
                <a:effectLst/>
                <a:latin typeface="Segoe WPC"/>
              </a:rPr>
            </a:br>
            <a:r>
              <a:rPr lang="pt-BR" b="1" dirty="0">
                <a:effectLst/>
              </a:rPr>
              <a:t>Extração e Limpeza Inicial</a:t>
            </a:r>
            <a:r>
              <a:rPr lang="pt-BR" dirty="0"/>
              <a:t>:</a:t>
            </a:r>
            <a:endParaRPr lang="pt-BR" dirty="0">
              <a:effectLst/>
            </a:endParaRPr>
          </a:p>
          <a:p>
            <a:pPr>
              <a:buNone/>
            </a:pPr>
            <a:r>
              <a:rPr lang="pt-BR" b="1" i="0" dirty="0">
                <a:solidFill>
                  <a:srgbClr val="D8DEE9"/>
                </a:solidFill>
                <a:effectLst/>
                <a:latin typeface="Segoe WPC"/>
              </a:rPr>
              <a:t>Tratamento de Preços</a:t>
            </a:r>
          </a:p>
          <a:p>
            <a:pPr>
              <a:buNone/>
            </a:pPr>
            <a:r>
              <a:rPr lang="pt-BR" b="1" i="0" dirty="0">
                <a:solidFill>
                  <a:srgbClr val="D8DEE9"/>
                </a:solidFill>
                <a:effectLst/>
                <a:latin typeface="Segoe WPC"/>
              </a:rPr>
              <a:t>Padronização de Texto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+mj-lt"/>
              <a:buAutoNum type="arabicPeriod" startAt="6"/>
            </a:pPr>
            <a:r>
              <a:rPr lang="pt-BR" b="1" dirty="0">
                <a:effectLst/>
              </a:rPr>
              <a:t>Enriquecimento com Estatísticas de Mercado</a:t>
            </a:r>
            <a:r>
              <a:rPr lang="pt-BR" dirty="0">
                <a:effectLst/>
              </a:rPr>
              <a:t>: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dirty="0">
                <a:effectLst/>
              </a:rPr>
              <a:t>Média de preços por segmento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dirty="0">
                <a:effectLst/>
              </a:rPr>
              <a:t>Contagem de anúncios por região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dirty="0">
                <a:effectLst/>
              </a:rPr>
              <a:t>Métricas de popularidade por modelo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dirty="0">
                <a:effectLst/>
              </a:rPr>
              <a:t>Indicadores de valor de mercado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+mj-lt"/>
              <a:buAutoNum type="arabicPeriod" startAt="7"/>
            </a:pPr>
            <a:r>
              <a:rPr lang="pt-BR" b="1" dirty="0">
                <a:effectLst/>
              </a:rPr>
              <a:t>Validação e Controle de Qualidade</a:t>
            </a:r>
            <a:r>
              <a:rPr lang="pt-BR" dirty="0">
                <a:effectLst/>
              </a:rPr>
              <a:t>: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dirty="0">
                <a:effectLst/>
              </a:rPr>
              <a:t>Remoção de outliers usando </a:t>
            </a:r>
            <a:r>
              <a:rPr lang="pt-BR" dirty="0" err="1">
                <a:effectLst/>
              </a:rPr>
              <a:t>Isolation</a:t>
            </a:r>
            <a:r>
              <a:rPr lang="pt-BR" dirty="0">
                <a:effectLst/>
              </a:rPr>
              <a:t> Forest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dirty="0">
                <a:effectLst/>
              </a:rPr>
              <a:t>Validação de limites de preço por fabricante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dirty="0">
                <a:effectLst/>
              </a:rPr>
              <a:t>Tratamento de valores ausentes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dirty="0">
                <a:effectLst/>
              </a:rPr>
              <a:t>Verificação de consistência dos dados</a:t>
            </a:r>
          </a:p>
          <a:p>
            <a:pPr>
              <a:buNone/>
            </a:pPr>
            <a:br>
              <a:rPr lang="pt-BR" dirty="0">
                <a:effectLst/>
              </a:rPr>
            </a:b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85A850-4536-44EA-BE03-720297BFB9D8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10425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dirty="0">
                <a:effectLst/>
              </a:rPr>
              <a:t>Dados limpos e padronizados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dirty="0">
                <a:effectLst/>
              </a:rPr>
              <a:t>Features derivadas (idade do veículo, preço por km, etc.)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dirty="0">
                <a:effectLst/>
              </a:rPr>
              <a:t>Indicadores de mercado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dirty="0">
                <a:effectLst/>
              </a:rPr>
              <a:t>Estatísticas agregadas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dirty="0">
                <a:effectLst/>
              </a:rPr>
              <a:t>Flags de qualidade dos dados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dirty="0">
                <a:effectLst/>
              </a:rPr>
              <a:t>Métricas de popularidade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dirty="0">
                <a:effectLst/>
              </a:rPr>
              <a:t>Informações de preço processadas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dirty="0"/>
              <a:t>Esta tabela serve como base para todas as análises posteriores, </a:t>
            </a:r>
            <a:r>
              <a:rPr lang="pt-BR" dirty="0" err="1"/>
              <a:t>incluindo:</a:t>
            </a:r>
            <a:r>
              <a:rPr lang="pt-BR" dirty="0" err="1">
                <a:effectLst/>
              </a:rPr>
              <a:t>Análise</a:t>
            </a:r>
            <a:r>
              <a:rPr lang="pt-BR" dirty="0">
                <a:effectLst/>
              </a:rPr>
              <a:t> de preços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dirty="0">
                <a:effectLst/>
              </a:rPr>
              <a:t>Segmentação de mercado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dirty="0">
                <a:effectLst/>
              </a:rPr>
              <a:t>Análise temporal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dirty="0">
                <a:effectLst/>
              </a:rPr>
              <a:t>Análise regional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dirty="0">
                <a:effectLst/>
              </a:rPr>
              <a:t>Previsões e tendências</a:t>
            </a:r>
          </a:p>
          <a:p>
            <a:pPr>
              <a:buNone/>
            </a:pPr>
            <a:r>
              <a:rPr lang="pt-BR" dirty="0"/>
              <a:t>O processo é automatizado através do script </a:t>
            </a:r>
            <a:r>
              <a:rPr lang="pt-BR" dirty="0">
                <a:effectLst/>
                <a:latin typeface="Consolas" panose="020B0609020204030204" pitchFamily="49" charset="0"/>
              </a:rPr>
              <a:t>run_etl.py</a:t>
            </a:r>
            <a:r>
              <a:rPr lang="pt-BR" dirty="0"/>
              <a:t> e inclui logs detalhados para monitoramento e </a:t>
            </a:r>
            <a:r>
              <a:rPr lang="pt-BR" dirty="0" err="1"/>
              <a:t>debuggi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85A850-4536-44EA-BE03-720297BFB9D8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74708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150"/>
              </a:spcBef>
              <a:spcAft>
                <a:spcPts val="150"/>
              </a:spcAft>
              <a:buFont typeface="+mj-lt"/>
              <a:buAutoNum type="arabicPeriod"/>
            </a:pPr>
            <a:r>
              <a:rPr lang="pt-BR" b="1" dirty="0">
                <a:effectLst/>
              </a:rPr>
              <a:t>Distribuição de Preços</a:t>
            </a:r>
            <a:r>
              <a:rPr lang="pt-BR" dirty="0">
                <a:effectLst/>
              </a:rPr>
              <a:t>: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b="1" dirty="0">
                <a:effectLst/>
              </a:rPr>
              <a:t>Medidas de Tendência Central</a:t>
            </a:r>
            <a:r>
              <a:rPr lang="pt-BR" dirty="0">
                <a:effectLst/>
              </a:rPr>
              <a:t>: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dirty="0">
                <a:effectLst/>
              </a:rPr>
              <a:t>Média: valor médio dos preços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dirty="0">
                <a:effectLst/>
              </a:rPr>
              <a:t>Mediana: valor que divide os dados ao meio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dirty="0">
                <a:effectLst/>
              </a:rPr>
              <a:t>Moda: preço mais frequente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b="1" dirty="0">
                <a:effectLst/>
              </a:rPr>
              <a:t>Medidas de Dispersão</a:t>
            </a:r>
            <a:r>
              <a:rPr lang="pt-BR" dirty="0">
                <a:effectLst/>
              </a:rPr>
              <a:t>: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dirty="0">
                <a:effectLst/>
              </a:rPr>
              <a:t>Desvio Padrão: indica quanto os preços variam em relação à média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dirty="0">
                <a:effectLst/>
              </a:rPr>
              <a:t>Variância: medida de dispersão ao quadrado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dirty="0">
                <a:effectLst/>
              </a:rPr>
              <a:t>Amplitude: diferença entre maior e menor preço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dirty="0">
                <a:effectLst/>
              </a:rPr>
              <a:t>IQR: diferença entre Q3 e Q1 (quartis)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+mj-lt"/>
              <a:buAutoNum type="arabicPeriod" startAt="2"/>
            </a:pPr>
            <a:r>
              <a:rPr lang="pt-BR" b="1" dirty="0">
                <a:effectLst/>
              </a:rPr>
              <a:t>Análises Bivariadas</a:t>
            </a:r>
            <a:r>
              <a:rPr lang="pt-BR" dirty="0">
                <a:effectLst/>
              </a:rPr>
              <a:t>: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b="1" dirty="0">
                <a:effectLst/>
              </a:rPr>
              <a:t>Correlações Importantes</a:t>
            </a:r>
            <a:r>
              <a:rPr lang="pt-BR" dirty="0">
                <a:effectLst/>
              </a:rPr>
              <a:t>: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dirty="0">
                <a:effectLst/>
              </a:rPr>
              <a:t>Preço x Ano: quanto mais novo, mais caro?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dirty="0">
                <a:effectLst/>
              </a:rPr>
              <a:t>Preço x Quilometragem: carros mais rodados são mais baratos?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dirty="0">
                <a:effectLst/>
              </a:rPr>
              <a:t>Preço x Fabricante: algumas marcas são mais valorizadas?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b="1" dirty="0">
                <a:effectLst/>
              </a:rPr>
              <a:t>Padrões Temporais</a:t>
            </a:r>
            <a:r>
              <a:rPr lang="pt-BR" dirty="0">
                <a:effectLst/>
              </a:rPr>
              <a:t>: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dirty="0">
                <a:effectLst/>
              </a:rPr>
              <a:t>Variação de preços ao longo do tempo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dirty="0">
                <a:effectLst/>
              </a:rPr>
              <a:t>Sazonalidade nas vendas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dirty="0">
                <a:effectLst/>
              </a:rPr>
              <a:t>Tendências de mercado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+mj-lt"/>
              <a:buAutoNum type="arabicPeriod" startAt="3"/>
            </a:pPr>
            <a:r>
              <a:rPr lang="pt-BR" b="1" dirty="0">
                <a:effectLst/>
              </a:rPr>
              <a:t>Identificação de Outliers</a:t>
            </a:r>
            <a:r>
              <a:rPr lang="pt-BR" dirty="0">
                <a:effectLst/>
              </a:rPr>
              <a:t>: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b="1" dirty="0">
                <a:effectLst/>
              </a:rPr>
              <a:t>Método IQR</a:t>
            </a:r>
            <a:r>
              <a:rPr lang="pt-BR" dirty="0">
                <a:effectLst/>
              </a:rPr>
              <a:t>: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dirty="0">
                <a:effectLst/>
              </a:rPr>
              <a:t>Calcula Q1 (25%) e Q3 (75%)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dirty="0">
                <a:effectLst/>
              </a:rPr>
              <a:t>Define limites: Q1 - 1.5</a:t>
            </a:r>
            <a:r>
              <a:rPr lang="pt-BR" i="1" dirty="0">
                <a:effectLst/>
              </a:rPr>
              <a:t>IQR e Q3 + 1.5</a:t>
            </a:r>
            <a:r>
              <a:rPr lang="pt-BR" dirty="0">
                <a:effectLst/>
              </a:rPr>
              <a:t>IQR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dirty="0">
                <a:effectLst/>
              </a:rPr>
              <a:t>Identifica valores fora desses limites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b="1" dirty="0">
                <a:effectLst/>
              </a:rPr>
              <a:t>Impacto nas Análises</a:t>
            </a:r>
            <a:r>
              <a:rPr lang="pt-BR" dirty="0">
                <a:effectLst/>
              </a:rPr>
              <a:t>: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dirty="0">
                <a:effectLst/>
              </a:rPr>
              <a:t>Quantidade de outliers identificados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dirty="0">
                <a:effectLst/>
              </a:rPr>
              <a:t>Porcentagem do </a:t>
            </a:r>
            <a:r>
              <a:rPr lang="pt-BR" dirty="0" err="1">
                <a:effectLst/>
              </a:rPr>
              <a:t>dataset</a:t>
            </a:r>
            <a:r>
              <a:rPr lang="pt-BR" dirty="0">
                <a:effectLst/>
              </a:rPr>
              <a:t> afetada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dirty="0">
                <a:effectLst/>
              </a:rPr>
              <a:t>Comparação de estatísticas com/sem outliers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dirty="0">
                <a:effectLst/>
              </a:rPr>
              <a:t>Decisão sobre tratamento (remover, ajustar ou manter)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+mj-lt"/>
              <a:buAutoNum type="arabicPeriod"/>
            </a:pPr>
            <a:r>
              <a:rPr lang="pt-BR" dirty="0"/>
              <a:t>Estas análises são fundamentais </a:t>
            </a:r>
            <a:r>
              <a:rPr lang="pt-BR" dirty="0" err="1"/>
              <a:t>para:</a:t>
            </a:r>
            <a:r>
              <a:rPr lang="pt-BR" dirty="0" err="1">
                <a:effectLst/>
              </a:rPr>
              <a:t>Entender</a:t>
            </a:r>
            <a:r>
              <a:rPr lang="pt-BR" dirty="0">
                <a:effectLst/>
              </a:rPr>
              <a:t> a distribuição dos preços no mercado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+mj-lt"/>
              <a:buAutoNum type="arabicPeriod" startAt="2"/>
            </a:pPr>
            <a:r>
              <a:rPr lang="pt-BR" dirty="0">
                <a:effectLst/>
              </a:rPr>
              <a:t>Identificar fatores que influenciam os preços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+mj-lt"/>
              <a:buAutoNum type="arabicPeriod" startAt="3"/>
            </a:pPr>
            <a:r>
              <a:rPr lang="pt-BR" dirty="0">
                <a:effectLst/>
              </a:rPr>
              <a:t>Detectar anomalias e valores suspeitos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+mj-lt"/>
              <a:buAutoNum type="arabicPeriod" startAt="4"/>
            </a:pPr>
            <a:r>
              <a:rPr lang="pt-BR" dirty="0">
                <a:effectLst/>
              </a:rPr>
              <a:t>Fornecer insights para tomada de decisão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+mj-lt"/>
              <a:buAutoNum type="arabicPeriod" startAt="5"/>
            </a:pPr>
            <a:r>
              <a:rPr lang="pt-BR" dirty="0">
                <a:effectLst/>
              </a:rPr>
              <a:t>Garantir qualidade dos dados para análises posteriores</a:t>
            </a:r>
          </a:p>
          <a:p>
            <a:pPr>
              <a:buNone/>
            </a:pPr>
            <a:r>
              <a:rPr lang="pt-BR" dirty="0"/>
              <a:t>O código implementa estas análises de forma sistemática e documentada, permitindo um entendimento profundo do mercado de carros usados.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85A850-4536-44EA-BE03-720297BFB9D8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10209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85A850-4536-44EA-BE03-720297BFB9D8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30166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pt-BR" b="1" dirty="0"/>
              <a:t>Tendência de Aumento:</a:t>
            </a:r>
            <a:r>
              <a:rPr lang="pt-BR" dirty="0"/>
              <a:t> Há uma clara tendência de aumento no preço médio ao longo dos anos. A linha de regressão ascendente indica que, em geral, o preço médio tende a ser maior em anos mais recentes.</a:t>
            </a:r>
            <a:br>
              <a:rPr lang="pt-BR" dirty="0"/>
            </a:br>
            <a:r>
              <a:rPr lang="pt-BR" b="1" dirty="0"/>
              <a:t>Variação e Dispersão:</a:t>
            </a:r>
            <a:endParaRPr lang="pt-BR" dirty="0"/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Maior Dispersão Recente:</a:t>
            </a:r>
            <a:r>
              <a:rPr lang="pt-BR" dirty="0"/>
              <a:t> A área sombreada ao redor da linha de regressão, que representa o intervalo de confiança, parece se alargar nos anos mais recentes. Isso sugere que a variabilidade dos preços médios tem aumentado com o tempo. Em outras palavras, a diferença entre os preços médios observados e o preço médio previsto pelo modelo de regressão é maior nos anos mais recentes.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Menor Dispersão Inicial:</a:t>
            </a:r>
            <a:r>
              <a:rPr lang="pt-BR" dirty="0"/>
              <a:t> Nos anos iniciais do período analisado (aproximadamente até o ano 2000), os pontos estão mais próximos da linha de regressão e o intervalo de confiança é mais estreito, indicando uma menor variabilidade nos preços médios.</a:t>
            </a:r>
          </a:p>
          <a:p>
            <a:r>
              <a:rPr lang="pt-BR" b="1" dirty="0"/>
              <a:t>Estabilidade Inicial:</a:t>
            </a:r>
            <a:r>
              <a:rPr lang="pt-BR" dirty="0"/>
              <a:t> Entre aproximadamente 1990 e 2000, o preço médio parece relativamente estável, com pequenas flutuações em torno de um valor baixo (abaixo de 10.000 dólares). </a:t>
            </a:r>
            <a:r>
              <a:rPr lang="pt-BR" b="1" dirty="0"/>
              <a:t>Aumento Gradual:</a:t>
            </a:r>
            <a:r>
              <a:rPr lang="pt-BR" dirty="0"/>
              <a:t> A partir de aproximadamente 2000 até 2015, observa-se um aumento gradual e mais consistente no preço médio. </a:t>
            </a:r>
            <a:r>
              <a:rPr lang="pt-BR" b="1" dirty="0"/>
              <a:t>Aceleração do Aumento:</a:t>
            </a:r>
            <a:r>
              <a:rPr lang="pt-BR" dirty="0"/>
              <a:t> Após 2015, o aumento no preço médio parece se acelerar, com os pontos mostrando uma inclinação mais acentuada para cima. </a:t>
            </a:r>
            <a:r>
              <a:rPr lang="pt-BR" b="1" dirty="0"/>
              <a:t>Possível Outlier Recente:</a:t>
            </a:r>
            <a:r>
              <a:rPr lang="pt-BR" dirty="0"/>
              <a:t> Há um ponto isolado no ano de 2022 com um preço médio significativamente mais alto do que a tendência geral prevista pela linha de regressão e os pontos vizinhos. Este ponto pode ser um outlier que merece investigação adicional para entender sua causa.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85A850-4536-44EA-BE03-720297BFB9D8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54735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9144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8831" y="1449146"/>
            <a:ext cx="7526338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8831" y="5280847"/>
            <a:ext cx="7526338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274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9144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9997" y="2222287"/>
            <a:ext cx="7524003" cy="363651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417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0"/>
            <a:ext cx="9144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863" y="2951396"/>
            <a:ext cx="7526337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4863" y="5281200"/>
            <a:ext cx="7526337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649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9144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9996" y="2222287"/>
            <a:ext cx="3670723" cy="3638763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280" y="2222287"/>
            <a:ext cx="3670720" cy="3638763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307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9144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9996" y="2174875"/>
            <a:ext cx="367072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9996" y="2751137"/>
            <a:ext cx="3687391" cy="3109913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280" y="2174875"/>
            <a:ext cx="3670720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0" y="2751137"/>
            <a:ext cx="3670720" cy="3109913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573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9144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723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319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804863" y="446086"/>
            <a:ext cx="2660650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863" y="446088"/>
            <a:ext cx="2660650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4" y="446087"/>
            <a:ext cx="4689475" cy="5414963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4863" y="2260737"/>
            <a:ext cx="2660650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840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9996" y="727521"/>
            <a:ext cx="350154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4573588" y="0"/>
            <a:ext cx="4570412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9996" y="2344684"/>
            <a:ext cx="350154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914357" y="6041361"/>
            <a:ext cx="73265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42797" y="6041361"/>
            <a:ext cx="247156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47017" y="5915887"/>
            <a:ext cx="796616" cy="490599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379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863" y="4800600"/>
            <a:ext cx="752633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9144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4863" y="5367338"/>
            <a:ext cx="7526337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880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485107" y="1338479"/>
            <a:ext cx="4749312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573" y="1495525"/>
            <a:ext cx="442038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1226" y="4700702"/>
            <a:ext cx="4418727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5398884" y="1338479"/>
            <a:ext cx="3302316" cy="4075464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6116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855663" y="2286585"/>
            <a:ext cx="3671336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017816" y="2435956"/>
            <a:ext cx="328689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4616450" y="2286000"/>
            <a:ext cx="3671888" cy="2300288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7253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9144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6437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5752238" y="446089"/>
            <a:ext cx="3391762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AutoShape 4"/>
          <p:cNvSpPr>
            <a:spLocks noChangeAspect="1" noChangeArrowheads="1" noTextEdit="1"/>
          </p:cNvSpPr>
          <p:nvPr/>
        </p:nvSpPr>
        <p:spPr bwMode="auto">
          <a:xfrm>
            <a:off x="5233988" y="0"/>
            <a:ext cx="3910012" cy="586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37655" y="586171"/>
            <a:ext cx="1701800" cy="513479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4862" y="446089"/>
            <a:ext cx="4947376" cy="5414962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508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9997" y="447188"/>
            <a:ext cx="7524003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9997" y="2184400"/>
            <a:ext cx="7524003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2797" y="6041361"/>
            <a:ext cx="6289532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1422" y="6041361"/>
            <a:ext cx="993161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04584" y="5915887"/>
            <a:ext cx="796616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1091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1916" y="673240"/>
            <a:ext cx="4463935" cy="3446373"/>
          </a:xfrm>
          <a:noFill/>
          <a:ln w="19050">
            <a:noFill/>
            <a:prstDash val="dash"/>
          </a:ln>
        </p:spPr>
        <p:txBody>
          <a:bodyPr>
            <a:normAutofit/>
          </a:bodyPr>
          <a:lstStyle/>
          <a:p>
            <a:pPr algn="r"/>
            <a:r>
              <a:rPr lang="pt-BR" sz="4200"/>
              <a:t>Análise do Mercado de Carros Usados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24198" y="4119613"/>
            <a:ext cx="4451652" cy="2058765"/>
          </a:xfrm>
          <a:noFill/>
          <a:ln w="19050">
            <a:noFill/>
            <a:prstDash val="dash"/>
          </a:ln>
        </p:spPr>
        <p:txBody>
          <a:bodyPr>
            <a:normAutofit/>
          </a:bodyPr>
          <a:lstStyle/>
          <a:p>
            <a:pPr algn="r"/>
            <a:r>
              <a:rPr lang="pt-BR" sz="1700"/>
              <a:t>Uma Abordagem Completa: Da Preparação dos Dados à Visualização</a:t>
            </a:r>
          </a:p>
        </p:txBody>
      </p:sp>
      <p:pic>
        <p:nvPicPr>
          <p:cNvPr id="5" name="Picture 4" descr="Gráfico em documento com caneta">
            <a:extLst>
              <a:ext uri="{FF2B5EF4-FFF2-40B4-BE49-F238E27FC236}">
                <a16:creationId xmlns:a16="http://schemas.microsoft.com/office/drawing/2014/main" id="{1A74A248-4FF1-C6E6-24AD-8E520ED7CF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9873" r="26151" b="-1"/>
          <a:stretch/>
        </p:blipFill>
        <p:spPr>
          <a:xfrm>
            <a:off x="-3" y="10"/>
            <a:ext cx="3490718" cy="68579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819" y="764373"/>
            <a:ext cx="4692968" cy="1293028"/>
          </a:xfrm>
        </p:spPr>
        <p:txBody>
          <a:bodyPr>
            <a:normAutofit/>
          </a:bodyPr>
          <a:lstStyle/>
          <a:p>
            <a:r>
              <a:rPr lang="pt-BR"/>
              <a:t>Agenda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idx="1"/>
          </p:nvPr>
        </p:nvSpPr>
        <p:spPr>
          <a:xfrm>
            <a:off x="464820" y="2194560"/>
            <a:ext cx="4692967" cy="402412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sz="1900" dirty="0"/>
              <a:t>1. </a:t>
            </a:r>
            <a:r>
              <a:rPr sz="1900" dirty="0" err="1"/>
              <a:t>Introdução</a:t>
            </a:r>
            <a:r>
              <a:rPr sz="1900" dirty="0"/>
              <a:t> (5 m</a:t>
            </a:r>
            <a:r>
              <a:rPr lang="pt-BR" sz="1900" dirty="0"/>
              <a:t>in)</a:t>
            </a:r>
          </a:p>
          <a:p>
            <a:pPr marL="0" indent="0" algn="just">
              <a:buNone/>
            </a:pPr>
            <a:r>
              <a:rPr lang="pt-BR" sz="1900" dirty="0"/>
              <a:t>2. Preparação e Limpeza dos Dados (10 min)</a:t>
            </a:r>
          </a:p>
          <a:p>
            <a:pPr marL="0" indent="0" algn="just">
              <a:buNone/>
            </a:pPr>
            <a:r>
              <a:rPr sz="1900" dirty="0"/>
              <a:t>3. </a:t>
            </a:r>
            <a:r>
              <a:rPr sz="1900" dirty="0" err="1"/>
              <a:t>Análise</a:t>
            </a:r>
            <a:r>
              <a:rPr sz="1900" dirty="0"/>
              <a:t> SQL e Insights </a:t>
            </a:r>
            <a:r>
              <a:rPr sz="1900" dirty="0" err="1"/>
              <a:t>Iniciais</a:t>
            </a:r>
            <a:r>
              <a:rPr sz="1900" dirty="0"/>
              <a:t> (10 min)</a:t>
            </a:r>
            <a:endParaRPr lang="pt-BR" sz="1900" dirty="0"/>
          </a:p>
          <a:p>
            <a:pPr marL="0" indent="0" algn="just">
              <a:buNone/>
            </a:pPr>
            <a:r>
              <a:rPr lang="pt-BR" sz="1900" dirty="0"/>
              <a:t>4. Análise Estatística Descritiva (10 min)</a:t>
            </a:r>
          </a:p>
          <a:p>
            <a:pPr marL="0" indent="0" algn="just">
              <a:buNone/>
            </a:pPr>
            <a:r>
              <a:rPr sz="1900" dirty="0"/>
              <a:t> 5. </a:t>
            </a:r>
            <a:r>
              <a:rPr sz="1900" dirty="0" err="1"/>
              <a:t>Visualizações</a:t>
            </a:r>
            <a:r>
              <a:rPr sz="1900" dirty="0"/>
              <a:t> e Dashboard (8 min)</a:t>
            </a:r>
          </a:p>
          <a:p>
            <a:pPr marL="0" indent="0" algn="just">
              <a:buNone/>
            </a:pPr>
            <a:r>
              <a:rPr sz="1900" dirty="0"/>
              <a:t>6. </a:t>
            </a:r>
            <a:r>
              <a:rPr sz="1900" dirty="0" err="1"/>
              <a:t>Demonstração</a:t>
            </a:r>
            <a:r>
              <a:rPr sz="1900" dirty="0"/>
              <a:t> do </a:t>
            </a:r>
            <a:r>
              <a:rPr sz="1900" dirty="0" err="1"/>
              <a:t>Streamlit</a:t>
            </a:r>
            <a:r>
              <a:rPr sz="1900" dirty="0"/>
              <a:t> (2 min)</a:t>
            </a:r>
          </a:p>
          <a:p>
            <a:pPr marL="0" indent="0" algn="just">
              <a:buNone/>
            </a:pPr>
            <a:r>
              <a:rPr sz="1900" dirty="0"/>
              <a:t>7. </a:t>
            </a:r>
            <a:r>
              <a:rPr sz="1900" dirty="0" err="1"/>
              <a:t>Perguntas</a:t>
            </a:r>
            <a:r>
              <a:rPr sz="1900" dirty="0"/>
              <a:t> e </a:t>
            </a:r>
            <a:r>
              <a:rPr sz="1900" dirty="0" err="1"/>
              <a:t>Respostas</a:t>
            </a:r>
            <a:endParaRPr sz="1900" dirty="0"/>
          </a:p>
          <a:p>
            <a:pPr marL="0" indent="0">
              <a:buNone/>
            </a:pPr>
            <a:endParaRPr sz="1900" dirty="0"/>
          </a:p>
        </p:txBody>
      </p:sp>
      <p:pic>
        <p:nvPicPr>
          <p:cNvPr id="19" name="Picture 4" descr="Gráficos financeiros em uma tela escura">
            <a:extLst>
              <a:ext uri="{FF2B5EF4-FFF2-40B4-BE49-F238E27FC236}">
                <a16:creationId xmlns:a16="http://schemas.microsoft.com/office/drawing/2014/main" id="{98DE65B2-9346-8774-B5B0-95A83B5BE8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127" r="36936"/>
          <a:stretch/>
        </p:blipFill>
        <p:spPr>
          <a:xfrm>
            <a:off x="5639562" y="10"/>
            <a:ext cx="3504438" cy="685798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089A69AF-D57B-49B4-886C-D4A5DC194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18" y="1303113"/>
            <a:ext cx="2529060" cy="4251775"/>
          </a:xfrm>
          <a:effectLst/>
        </p:spPr>
        <p:txBody>
          <a:bodyPr anchor="ctr">
            <a:normAutofit/>
          </a:bodyPr>
          <a:lstStyle/>
          <a:p>
            <a:r>
              <a:rPr lang="pt-BR" sz="3400"/>
              <a:t>1. Introdução</a:t>
            </a:r>
          </a:p>
        </p:txBody>
      </p:sp>
      <p:sp useBgFill="1">
        <p:nvSpPr>
          <p:cNvPr id="6" name="Freeform: Shape 9">
            <a:extLst>
              <a:ext uri="{FF2B5EF4-FFF2-40B4-BE49-F238E27FC236}">
                <a16:creationId xmlns:a16="http://schemas.microsoft.com/office/drawing/2014/main" id="{68F2977E-E0AE-4EB4-A059-59E908EB86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16200000">
            <a:off x="-357180" y="357180"/>
            <a:ext cx="6858002" cy="6143643"/>
          </a:xfrm>
          <a:custGeom>
            <a:avLst/>
            <a:gdLst>
              <a:gd name="connsiteX0" fmla="*/ 6858002 w 6858002"/>
              <a:gd name="connsiteY0" fmla="*/ 6080676 h 8191524"/>
              <a:gd name="connsiteX1" fmla="*/ 3829244 w 6858002"/>
              <a:gd name="connsiteY1" fmla="*/ 8068294 h 8191524"/>
              <a:gd name="connsiteX2" fmla="*/ 3827371 w 6858002"/>
              <a:gd name="connsiteY2" fmla="*/ 8069839 h 8191524"/>
              <a:gd name="connsiteX3" fmla="*/ 3824585 w 6858002"/>
              <a:gd name="connsiteY3" fmla="*/ 8071350 h 8191524"/>
              <a:gd name="connsiteX4" fmla="*/ 3798695 w 6858002"/>
              <a:gd name="connsiteY4" fmla="*/ 8088342 h 8191524"/>
              <a:gd name="connsiteX5" fmla="*/ 3785013 w 6858002"/>
              <a:gd name="connsiteY5" fmla="*/ 8092830 h 8191524"/>
              <a:gd name="connsiteX6" fmla="*/ 3706341 w 6858002"/>
              <a:gd name="connsiteY6" fmla="*/ 8135531 h 8191524"/>
              <a:gd name="connsiteX7" fmla="*/ 3429000 w 6858002"/>
              <a:gd name="connsiteY7" fmla="*/ 8191524 h 8191524"/>
              <a:gd name="connsiteX8" fmla="*/ 3151660 w 6858002"/>
              <a:gd name="connsiteY8" fmla="*/ 8135531 h 8191524"/>
              <a:gd name="connsiteX9" fmla="*/ 3072998 w 6858002"/>
              <a:gd name="connsiteY9" fmla="*/ 8092835 h 8191524"/>
              <a:gd name="connsiteX10" fmla="*/ 3059300 w 6858002"/>
              <a:gd name="connsiteY10" fmla="*/ 8088342 h 8191524"/>
              <a:gd name="connsiteX11" fmla="*/ 3033385 w 6858002"/>
              <a:gd name="connsiteY11" fmla="*/ 8071334 h 8191524"/>
              <a:gd name="connsiteX12" fmla="*/ 3030629 w 6858002"/>
              <a:gd name="connsiteY12" fmla="*/ 8069839 h 8191524"/>
              <a:gd name="connsiteX13" fmla="*/ 3028777 w 6858002"/>
              <a:gd name="connsiteY13" fmla="*/ 8068310 h 8191524"/>
              <a:gd name="connsiteX14" fmla="*/ 2 w 6858002"/>
              <a:gd name="connsiteY14" fmla="*/ 6080676 h 8191524"/>
              <a:gd name="connsiteX15" fmla="*/ 6858002 w 6858002"/>
              <a:gd name="connsiteY15" fmla="*/ 0 h 8191524"/>
              <a:gd name="connsiteX16" fmla="*/ 6858002 w 6858002"/>
              <a:gd name="connsiteY16" fmla="*/ 2634972 h 8191524"/>
              <a:gd name="connsiteX17" fmla="*/ 6858002 w 6858002"/>
              <a:gd name="connsiteY17" fmla="*/ 2984308 h 8191524"/>
              <a:gd name="connsiteX18" fmla="*/ 6858002 w 6858002"/>
              <a:gd name="connsiteY18" fmla="*/ 3291840 h 8191524"/>
              <a:gd name="connsiteX19" fmla="*/ 6858002 w 6858002"/>
              <a:gd name="connsiteY19" fmla="*/ 6080675 h 8191524"/>
              <a:gd name="connsiteX20" fmla="*/ 2 w 6858002"/>
              <a:gd name="connsiteY20" fmla="*/ 6080675 h 8191524"/>
              <a:gd name="connsiteX21" fmla="*/ 2 w 6858002"/>
              <a:gd name="connsiteY21" fmla="*/ 3291840 h 8191524"/>
              <a:gd name="connsiteX22" fmla="*/ 0 w 6858002"/>
              <a:gd name="connsiteY22" fmla="*/ 3291840 h 8191524"/>
              <a:gd name="connsiteX23" fmla="*/ 0 w 6858002"/>
              <a:gd name="connsiteY23" fmla="*/ 0 h 8191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6858002" h="8191524">
                <a:moveTo>
                  <a:pt x="6858002" y="6080676"/>
                </a:moveTo>
                <a:lnTo>
                  <a:pt x="3829244" y="8068294"/>
                </a:lnTo>
                <a:lnTo>
                  <a:pt x="3827371" y="8069839"/>
                </a:lnTo>
                <a:lnTo>
                  <a:pt x="3824585" y="8071350"/>
                </a:lnTo>
                <a:lnTo>
                  <a:pt x="3798695" y="8088342"/>
                </a:lnTo>
                <a:lnTo>
                  <a:pt x="3785013" y="8092830"/>
                </a:lnTo>
                <a:lnTo>
                  <a:pt x="3706341" y="8135531"/>
                </a:lnTo>
                <a:cubicBezTo>
                  <a:pt x="3621098" y="8171586"/>
                  <a:pt x="3527377" y="8191524"/>
                  <a:pt x="3429000" y="8191524"/>
                </a:cubicBezTo>
                <a:cubicBezTo>
                  <a:pt x="3330623" y="8191524"/>
                  <a:pt x="3236903" y="8171586"/>
                  <a:pt x="3151660" y="8135531"/>
                </a:cubicBezTo>
                <a:lnTo>
                  <a:pt x="3072998" y="8092835"/>
                </a:lnTo>
                <a:lnTo>
                  <a:pt x="3059300" y="8088342"/>
                </a:lnTo>
                <a:lnTo>
                  <a:pt x="3033385" y="8071334"/>
                </a:lnTo>
                <a:lnTo>
                  <a:pt x="3030629" y="8069839"/>
                </a:lnTo>
                <a:lnTo>
                  <a:pt x="3028777" y="8068310"/>
                </a:lnTo>
                <a:lnTo>
                  <a:pt x="2" y="6080676"/>
                </a:lnTo>
                <a:close/>
                <a:moveTo>
                  <a:pt x="6858002" y="0"/>
                </a:moveTo>
                <a:lnTo>
                  <a:pt x="6858002" y="2634972"/>
                </a:lnTo>
                <a:lnTo>
                  <a:pt x="6858002" y="2984308"/>
                </a:lnTo>
                <a:lnTo>
                  <a:pt x="6858002" y="3291840"/>
                </a:lnTo>
                <a:lnTo>
                  <a:pt x="6858002" y="6080675"/>
                </a:lnTo>
                <a:lnTo>
                  <a:pt x="2" y="6080675"/>
                </a:lnTo>
                <a:lnTo>
                  <a:pt x="2" y="3291840"/>
                </a:lnTo>
                <a:lnTo>
                  <a:pt x="0" y="3291840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="" xmlns:a14="http://schemas.microsoft.com/office/drawing/2010/main" xmlns:p14="http://schemas.microsoft.com/office/powerpoint/2010/main" xmlns:a16="http://schemas.microsoft.com/office/drawing/2014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8635" y="978993"/>
            <a:ext cx="4373214" cy="4900014"/>
          </a:xfrm>
          <a:effectLst/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endParaRPr lang="pt-BR" sz="1500" dirty="0"/>
          </a:p>
          <a:p>
            <a:pPr marL="0" indent="0">
              <a:lnSpc>
                <a:spcPct val="90000"/>
              </a:lnSpc>
              <a:buNone/>
            </a:pPr>
            <a:r>
              <a:rPr lang="pt-BR" sz="1500" dirty="0"/>
              <a:t>    • Contextualização do Projeto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1500" dirty="0"/>
              <a:t>      - Mercado de carros usados em 	crescimento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1500" dirty="0"/>
              <a:t>      - Importância da análise de dados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1500" dirty="0"/>
              <a:t>      - Objetivos do projeto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1500" dirty="0"/>
              <a:t>   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1500" dirty="0"/>
              <a:t>    • Visão Geral dos Dados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1500" dirty="0"/>
              <a:t>      - Fonte e estrutura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1500" dirty="0"/>
              <a:t>      - Desafios identificados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1500" dirty="0"/>
              <a:t>   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1500" dirty="0"/>
              <a:t>    • Metodologia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1500" dirty="0"/>
              <a:t>      - Abordagem ETL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1500" dirty="0"/>
              <a:t>      - Ferramentas utilizadas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1500" dirty="0"/>
              <a:t> 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7">
            <a:extLst>
              <a:ext uri="{FF2B5EF4-FFF2-40B4-BE49-F238E27FC236}">
                <a16:creationId xmlns:a16="http://schemas.microsoft.com/office/drawing/2014/main" id="{089A69AF-D57B-49B4-886C-D4A5DC194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9">
            <a:extLst>
              <a:ext uri="{FF2B5EF4-FFF2-40B4-BE49-F238E27FC236}">
                <a16:creationId xmlns:a16="http://schemas.microsoft.com/office/drawing/2014/main" id="{CABDC08D-6093-4397-92D4-54D00E2BB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16200000">
            <a:off x="-1345293" y="1345293"/>
            <a:ext cx="6858000" cy="4167414"/>
          </a:xfrm>
          <a:custGeom>
            <a:avLst/>
            <a:gdLst>
              <a:gd name="connsiteX0" fmla="*/ 6858000 w 6858000"/>
              <a:gd name="connsiteY0" fmla="*/ 3445704 h 5556552"/>
              <a:gd name="connsiteX1" fmla="*/ 3829242 w 6858000"/>
              <a:gd name="connsiteY1" fmla="*/ 5433322 h 5556552"/>
              <a:gd name="connsiteX2" fmla="*/ 3827369 w 6858000"/>
              <a:gd name="connsiteY2" fmla="*/ 5434867 h 5556552"/>
              <a:gd name="connsiteX3" fmla="*/ 3824583 w 6858000"/>
              <a:gd name="connsiteY3" fmla="*/ 5436378 h 5556552"/>
              <a:gd name="connsiteX4" fmla="*/ 3798693 w 6858000"/>
              <a:gd name="connsiteY4" fmla="*/ 5453370 h 5556552"/>
              <a:gd name="connsiteX5" fmla="*/ 3785011 w 6858000"/>
              <a:gd name="connsiteY5" fmla="*/ 5457858 h 5556552"/>
              <a:gd name="connsiteX6" fmla="*/ 3706339 w 6858000"/>
              <a:gd name="connsiteY6" fmla="*/ 5500559 h 5556552"/>
              <a:gd name="connsiteX7" fmla="*/ 3428998 w 6858000"/>
              <a:gd name="connsiteY7" fmla="*/ 5556552 h 5556552"/>
              <a:gd name="connsiteX8" fmla="*/ 3151658 w 6858000"/>
              <a:gd name="connsiteY8" fmla="*/ 5500559 h 5556552"/>
              <a:gd name="connsiteX9" fmla="*/ 3072996 w 6858000"/>
              <a:gd name="connsiteY9" fmla="*/ 5457863 h 5556552"/>
              <a:gd name="connsiteX10" fmla="*/ 3059298 w 6858000"/>
              <a:gd name="connsiteY10" fmla="*/ 5453370 h 5556552"/>
              <a:gd name="connsiteX11" fmla="*/ 3033383 w 6858000"/>
              <a:gd name="connsiteY11" fmla="*/ 5436362 h 5556552"/>
              <a:gd name="connsiteX12" fmla="*/ 3030627 w 6858000"/>
              <a:gd name="connsiteY12" fmla="*/ 5434867 h 5556552"/>
              <a:gd name="connsiteX13" fmla="*/ 3028775 w 6858000"/>
              <a:gd name="connsiteY13" fmla="*/ 5433338 h 5556552"/>
              <a:gd name="connsiteX14" fmla="*/ 0 w 6858000"/>
              <a:gd name="connsiteY14" fmla="*/ 3445704 h 5556552"/>
              <a:gd name="connsiteX15" fmla="*/ 6858000 w 6858000"/>
              <a:gd name="connsiteY15" fmla="*/ 0 h 5556552"/>
              <a:gd name="connsiteX16" fmla="*/ 6858000 w 6858000"/>
              <a:gd name="connsiteY16" fmla="*/ 349336 h 5556552"/>
              <a:gd name="connsiteX17" fmla="*/ 6858000 w 6858000"/>
              <a:gd name="connsiteY17" fmla="*/ 3445703 h 5556552"/>
              <a:gd name="connsiteX18" fmla="*/ 0 w 6858000"/>
              <a:gd name="connsiteY18" fmla="*/ 3445703 h 5556552"/>
              <a:gd name="connsiteX19" fmla="*/ 0 w 6858000"/>
              <a:gd name="connsiteY19" fmla="*/ 0 h 5556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858000" h="5556552">
                <a:moveTo>
                  <a:pt x="6858000" y="3445704"/>
                </a:moveTo>
                <a:lnTo>
                  <a:pt x="3829242" y="5433322"/>
                </a:lnTo>
                <a:lnTo>
                  <a:pt x="3827369" y="5434867"/>
                </a:lnTo>
                <a:lnTo>
                  <a:pt x="3824583" y="5436378"/>
                </a:lnTo>
                <a:lnTo>
                  <a:pt x="3798693" y="5453370"/>
                </a:lnTo>
                <a:lnTo>
                  <a:pt x="3785011" y="5457858"/>
                </a:lnTo>
                <a:lnTo>
                  <a:pt x="3706339" y="5500559"/>
                </a:lnTo>
                <a:cubicBezTo>
                  <a:pt x="3621096" y="5536614"/>
                  <a:pt x="3527375" y="5556552"/>
                  <a:pt x="3428998" y="5556552"/>
                </a:cubicBezTo>
                <a:cubicBezTo>
                  <a:pt x="3330621" y="5556552"/>
                  <a:pt x="3236901" y="5536614"/>
                  <a:pt x="3151658" y="5500559"/>
                </a:cubicBezTo>
                <a:lnTo>
                  <a:pt x="3072996" y="5457863"/>
                </a:lnTo>
                <a:lnTo>
                  <a:pt x="3059298" y="5453370"/>
                </a:lnTo>
                <a:lnTo>
                  <a:pt x="3033383" y="5436362"/>
                </a:lnTo>
                <a:lnTo>
                  <a:pt x="3030627" y="5434867"/>
                </a:lnTo>
                <a:lnTo>
                  <a:pt x="3028775" y="5433338"/>
                </a:lnTo>
                <a:lnTo>
                  <a:pt x="0" y="3445704"/>
                </a:lnTo>
                <a:close/>
                <a:moveTo>
                  <a:pt x="6858000" y="0"/>
                </a:moveTo>
                <a:lnTo>
                  <a:pt x="6858000" y="349336"/>
                </a:lnTo>
                <a:lnTo>
                  <a:pt x="6858000" y="3445703"/>
                </a:lnTo>
                <a:lnTo>
                  <a:pt x="0" y="3445703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="" xmlns:a14="http://schemas.microsoft.com/office/drawing/2010/main" xmlns:p14="http://schemas.microsoft.com/office/powerpoint/2010/main" xmlns:a16="http://schemas.microsoft.com/office/drawing/2014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636" y="1734857"/>
            <a:ext cx="2824112" cy="3388287"/>
          </a:xfrm>
        </p:spPr>
        <p:txBody>
          <a:bodyPr anchor="ctr">
            <a:normAutofit/>
          </a:bodyPr>
          <a:lstStyle/>
          <a:p>
            <a:r>
              <a:rPr lang="pt-BR" sz="3400"/>
              <a:t>2. Preparação e Limpeza dos Dados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6051" y="978993"/>
            <a:ext cx="4023913" cy="4900014"/>
          </a:xfrm>
          <a:effectLst/>
        </p:spPr>
        <p:txBody>
          <a:bodyPr>
            <a:normAutofit/>
          </a:bodyPr>
          <a:lstStyle/>
          <a:p>
            <a:pPr marL="0" indent="0" algn="just">
              <a:lnSpc>
                <a:spcPct val="90000"/>
              </a:lnSpc>
              <a:buNone/>
            </a:pPr>
            <a:endParaRPr lang="pt-BR" sz="1700" dirty="0"/>
          </a:p>
          <a:p>
            <a:pPr marL="0" indent="0" algn="just">
              <a:lnSpc>
                <a:spcPct val="90000"/>
              </a:lnSpc>
              <a:buNone/>
            </a:pPr>
            <a:r>
              <a:rPr lang="pt-BR" sz="1700" dirty="0"/>
              <a:t>    • Análise Exploratória Inicial</a:t>
            </a:r>
          </a:p>
          <a:p>
            <a:pPr marL="0" indent="0" algn="just">
              <a:lnSpc>
                <a:spcPct val="90000"/>
              </a:lnSpc>
              <a:buNone/>
            </a:pPr>
            <a:r>
              <a:rPr lang="pt-BR" sz="1700" dirty="0"/>
              <a:t>      - Identificação de valores 	ausentes</a:t>
            </a:r>
          </a:p>
          <a:p>
            <a:pPr marL="0" indent="0" algn="just">
              <a:lnSpc>
                <a:spcPct val="90000"/>
              </a:lnSpc>
              <a:buNone/>
            </a:pPr>
            <a:r>
              <a:rPr lang="pt-BR" sz="1700" dirty="0"/>
              <a:t>      - Detecção de anomalias</a:t>
            </a:r>
          </a:p>
          <a:p>
            <a:pPr marL="0" indent="0" algn="just">
              <a:lnSpc>
                <a:spcPct val="90000"/>
              </a:lnSpc>
              <a:buNone/>
            </a:pPr>
            <a:r>
              <a:rPr lang="pt-BR" sz="1700" dirty="0"/>
              <a:t>   </a:t>
            </a:r>
          </a:p>
          <a:p>
            <a:pPr marL="0" indent="0" algn="just">
              <a:lnSpc>
                <a:spcPct val="90000"/>
              </a:lnSpc>
              <a:buNone/>
            </a:pPr>
            <a:r>
              <a:rPr lang="pt-BR" sz="1700" dirty="0"/>
              <a:t>    • Processo de Limpeza</a:t>
            </a:r>
          </a:p>
          <a:p>
            <a:pPr marL="0" indent="0" algn="just">
              <a:lnSpc>
                <a:spcPct val="90000"/>
              </a:lnSpc>
              <a:buNone/>
            </a:pPr>
            <a:r>
              <a:rPr lang="pt-BR" sz="1700" dirty="0"/>
              <a:t>      - Tratamento de valores nulos</a:t>
            </a:r>
          </a:p>
          <a:p>
            <a:pPr marL="0" indent="0" algn="just">
              <a:lnSpc>
                <a:spcPct val="90000"/>
              </a:lnSpc>
              <a:buNone/>
            </a:pPr>
            <a:r>
              <a:rPr lang="pt-BR" sz="1700" dirty="0"/>
              <a:t>      - Padronização de formatos</a:t>
            </a:r>
          </a:p>
          <a:p>
            <a:pPr marL="0" indent="0" algn="just">
              <a:lnSpc>
                <a:spcPct val="90000"/>
              </a:lnSpc>
              <a:buNone/>
            </a:pPr>
            <a:r>
              <a:rPr lang="pt-BR" sz="1700" dirty="0"/>
              <a:t>    </a:t>
            </a:r>
          </a:p>
          <a:p>
            <a:pPr marL="0" indent="0" algn="just">
              <a:lnSpc>
                <a:spcPct val="90000"/>
              </a:lnSpc>
              <a:buNone/>
            </a:pPr>
            <a:r>
              <a:rPr lang="pt-BR" sz="1700" dirty="0"/>
              <a:t>    • Criação da ABT</a:t>
            </a:r>
          </a:p>
          <a:p>
            <a:pPr marL="0" indent="0" algn="just">
              <a:lnSpc>
                <a:spcPct val="90000"/>
              </a:lnSpc>
              <a:buNone/>
            </a:pPr>
            <a:r>
              <a:rPr lang="pt-BR" sz="1700" dirty="0"/>
              <a:t>      - Estrutura final</a:t>
            </a:r>
          </a:p>
          <a:p>
            <a:pPr marL="0" indent="0" algn="just">
              <a:lnSpc>
                <a:spcPct val="90000"/>
              </a:lnSpc>
              <a:buNone/>
            </a:pPr>
            <a:r>
              <a:rPr lang="pt-BR" sz="1700" dirty="0"/>
              <a:t>      - Features criadas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1700" dirty="0"/>
              <a:t>  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819" y="764373"/>
            <a:ext cx="4692968" cy="1293028"/>
          </a:xfrm>
        </p:spPr>
        <p:txBody>
          <a:bodyPr>
            <a:normAutofit fontScale="90000"/>
          </a:bodyPr>
          <a:lstStyle/>
          <a:p>
            <a:r>
              <a:t>3. Análise SQL e Insights Iniciais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" y="2194560"/>
            <a:ext cx="4692967" cy="4024125"/>
          </a:xfrm>
        </p:spPr>
        <p:txBody>
          <a:bodyPr>
            <a:normAutofit fontScale="92500" lnSpcReduction="10000"/>
          </a:bodyPr>
          <a:lstStyle/>
          <a:p>
            <a:endParaRPr lang="pt-BR" sz="1700" dirty="0"/>
          </a:p>
          <a:p>
            <a:pPr marL="0" indent="0" algn="just">
              <a:buNone/>
            </a:pPr>
            <a:r>
              <a:rPr lang="pt-BR" sz="1700" dirty="0"/>
              <a:t>    • Consultas Desenvolvidas</a:t>
            </a:r>
          </a:p>
          <a:p>
            <a:pPr marL="0" indent="0" algn="just">
              <a:buNone/>
            </a:pPr>
            <a:r>
              <a:rPr lang="pt-BR" sz="1700" dirty="0"/>
              <a:t>      - Preço médio por fabricante</a:t>
            </a:r>
          </a:p>
          <a:p>
            <a:pPr marL="0" indent="0" algn="just">
              <a:buNone/>
            </a:pPr>
            <a:r>
              <a:rPr lang="pt-BR" sz="1700" dirty="0"/>
              <a:t>      - Modelos mais anunciados</a:t>
            </a:r>
          </a:p>
          <a:p>
            <a:pPr marL="0" indent="0" algn="just">
              <a:buNone/>
            </a:pPr>
            <a:r>
              <a:rPr lang="pt-BR" sz="1700" dirty="0"/>
              <a:t>      - Análise de combustíveis</a:t>
            </a:r>
          </a:p>
          <a:p>
            <a:pPr marL="0" indent="0" algn="just">
              <a:buNone/>
            </a:pPr>
            <a:r>
              <a:rPr lang="pt-BR" sz="1700" dirty="0"/>
              <a:t>      - Análise regional</a:t>
            </a:r>
          </a:p>
          <a:p>
            <a:pPr marL="0" indent="0" algn="just">
              <a:buNone/>
            </a:pPr>
            <a:r>
              <a:rPr lang="pt-BR" sz="1700" dirty="0"/>
              <a:t>      - Análise de transmissão</a:t>
            </a:r>
          </a:p>
          <a:p>
            <a:pPr marL="0" indent="0" algn="just">
              <a:buNone/>
            </a:pPr>
            <a:r>
              <a:rPr lang="pt-BR" sz="1700" dirty="0"/>
              <a:t>   </a:t>
            </a:r>
          </a:p>
          <a:p>
            <a:pPr marL="0" indent="0" algn="just">
              <a:buNone/>
            </a:pPr>
            <a:r>
              <a:rPr lang="pt-BR" sz="1700" dirty="0"/>
              <a:t>    • Insights Principais</a:t>
            </a:r>
          </a:p>
          <a:p>
            <a:pPr marL="0" indent="0" algn="just">
              <a:buNone/>
            </a:pPr>
            <a:r>
              <a:rPr lang="pt-BR" sz="1700" dirty="0"/>
              <a:t>      - Padrões identificados</a:t>
            </a:r>
          </a:p>
          <a:p>
            <a:pPr marL="0" indent="0" algn="just">
              <a:buNone/>
            </a:pPr>
            <a:r>
              <a:rPr lang="pt-BR" sz="1700" dirty="0"/>
              <a:t>      - Distribuição geográfica</a:t>
            </a:r>
          </a:p>
          <a:p>
            <a:pPr marL="0" indent="0">
              <a:buNone/>
            </a:pPr>
            <a:endParaRPr lang="pt-BR" sz="1700" dirty="0"/>
          </a:p>
        </p:txBody>
      </p:sp>
      <p:pic>
        <p:nvPicPr>
          <p:cNvPr id="5" name="Picture 4" descr="Gráfico">
            <a:extLst>
              <a:ext uri="{FF2B5EF4-FFF2-40B4-BE49-F238E27FC236}">
                <a16:creationId xmlns:a16="http://schemas.microsoft.com/office/drawing/2014/main" id="{19D0D13E-0C0D-1CD7-BBD3-3599CAB4AE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398" r="39664"/>
          <a:stretch/>
        </p:blipFill>
        <p:spPr>
          <a:xfrm>
            <a:off x="5639562" y="10"/>
            <a:ext cx="3504438" cy="685798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819" y="764373"/>
            <a:ext cx="4692968" cy="1293028"/>
          </a:xfrm>
        </p:spPr>
        <p:txBody>
          <a:bodyPr>
            <a:normAutofit/>
          </a:bodyPr>
          <a:lstStyle/>
          <a:p>
            <a:r>
              <a:rPr lang="pt-BR" sz="3100"/>
              <a:t>4. Análise Estatística Descritiva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" y="2194560"/>
            <a:ext cx="4692967" cy="402412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pt-BR" sz="1200" dirty="0"/>
          </a:p>
          <a:p>
            <a:pPr marL="0" indent="0">
              <a:buNone/>
            </a:pPr>
            <a:r>
              <a:rPr lang="pt-BR" sz="1200" dirty="0"/>
              <a:t>    • </a:t>
            </a:r>
            <a:r>
              <a:rPr lang="pt-BR" sz="1600" dirty="0"/>
              <a:t>Distribuição de Preços</a:t>
            </a:r>
          </a:p>
          <a:p>
            <a:pPr marL="0" indent="0">
              <a:buNone/>
            </a:pPr>
            <a:r>
              <a:rPr lang="pt-BR" sz="1600" dirty="0"/>
              <a:t>      - Medidas de tendência central</a:t>
            </a:r>
          </a:p>
          <a:p>
            <a:pPr marL="0" indent="0">
              <a:buNone/>
            </a:pPr>
            <a:r>
              <a:rPr lang="pt-BR" sz="1600" dirty="0"/>
              <a:t>      - Medidas de dispersão</a:t>
            </a:r>
          </a:p>
          <a:p>
            <a:pPr marL="0" indent="0">
              <a:buNone/>
            </a:pPr>
            <a:r>
              <a:rPr lang="pt-BR" sz="1600" dirty="0"/>
              <a:t>   </a:t>
            </a:r>
          </a:p>
          <a:p>
            <a:pPr marL="0" indent="0">
              <a:buNone/>
            </a:pPr>
            <a:r>
              <a:rPr lang="pt-BR" sz="1600" dirty="0"/>
              <a:t>    • Análises Bivariadas</a:t>
            </a:r>
          </a:p>
          <a:p>
            <a:pPr marL="0" indent="0">
              <a:buNone/>
            </a:pPr>
            <a:r>
              <a:rPr lang="pt-BR" sz="1600" dirty="0"/>
              <a:t>      - Correlações importantes</a:t>
            </a:r>
          </a:p>
          <a:p>
            <a:pPr marL="0" indent="0">
              <a:buNone/>
            </a:pPr>
            <a:r>
              <a:rPr lang="pt-BR" sz="1600" dirty="0"/>
              <a:t>      - Padrões temporais</a:t>
            </a:r>
          </a:p>
          <a:p>
            <a:pPr marL="0" indent="0">
              <a:buNone/>
            </a:pPr>
            <a:r>
              <a:rPr lang="pt-BR" sz="1600" dirty="0"/>
              <a:t>    </a:t>
            </a:r>
          </a:p>
          <a:p>
            <a:pPr marL="0" indent="0">
              <a:buNone/>
            </a:pPr>
            <a:r>
              <a:rPr lang="pt-BR" sz="1600" dirty="0"/>
              <a:t>    • Identificação de Outliers</a:t>
            </a:r>
          </a:p>
          <a:p>
            <a:pPr marL="0" indent="0">
              <a:buNone/>
            </a:pPr>
            <a:r>
              <a:rPr lang="pt-BR" sz="1600" dirty="0"/>
              <a:t>      - Método IQR</a:t>
            </a:r>
          </a:p>
          <a:p>
            <a:pPr marL="0" indent="0">
              <a:buNone/>
            </a:pPr>
            <a:r>
              <a:rPr lang="pt-BR" sz="1600" dirty="0"/>
              <a:t>      - Impacto nas análises</a:t>
            </a:r>
          </a:p>
          <a:p>
            <a:pPr marL="0" indent="0">
              <a:buNone/>
            </a:pPr>
            <a:r>
              <a:rPr lang="pt-BR" sz="1200" dirty="0"/>
              <a:t>    </a:t>
            </a:r>
          </a:p>
        </p:txBody>
      </p:sp>
      <p:pic>
        <p:nvPicPr>
          <p:cNvPr id="5" name="Picture 4" descr="Lupa mostrando declínio de desempenho">
            <a:extLst>
              <a:ext uri="{FF2B5EF4-FFF2-40B4-BE49-F238E27FC236}">
                <a16:creationId xmlns:a16="http://schemas.microsoft.com/office/drawing/2014/main" id="{C78C916C-ADAF-8C6A-A277-4985504A2F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385" r="39505" b="-1"/>
          <a:stretch/>
        </p:blipFill>
        <p:spPr>
          <a:xfrm>
            <a:off x="5639562" y="10"/>
            <a:ext cx="3504438" cy="685798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D336D4B-F9C3-4167-9191-8DA896C80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6">
            <a:extLst>
              <a:ext uri="{FF2B5EF4-FFF2-40B4-BE49-F238E27FC236}">
                <a16:creationId xmlns:a16="http://schemas.microsoft.com/office/drawing/2014/main" id="{069BF0B4-2BF1-40F2-8D8E-9CFCED97D9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0" y="4672012"/>
            <a:ext cx="9144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solidFill>
            <a:srgbClr val="212121"/>
          </a:solidFill>
          <a:ln>
            <a:noFill/>
          </a:ln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65FAA2E-2216-9706-299B-0E5710949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634" y="5176569"/>
            <a:ext cx="3441757" cy="970450"/>
          </a:xfrm>
        </p:spPr>
        <p:txBody>
          <a:bodyPr anchor="ctr">
            <a:normAutofit/>
          </a:bodyPr>
          <a:lstStyle/>
          <a:p>
            <a:r>
              <a:rPr lang="fr-FR" sz="2100" dirty="0" err="1"/>
              <a:t>Milhagem</a:t>
            </a:r>
            <a:r>
              <a:rPr lang="fr-FR" sz="2100" dirty="0"/>
              <a:t> </a:t>
            </a:r>
            <a:r>
              <a:rPr lang="fr-FR" sz="2100" dirty="0" err="1"/>
              <a:t>por</a:t>
            </a:r>
            <a:r>
              <a:rPr lang="fr-FR" sz="2100" dirty="0"/>
              <a:t> </a:t>
            </a:r>
            <a:r>
              <a:rPr lang="fr-FR" sz="2100" dirty="0" err="1"/>
              <a:t>tipo</a:t>
            </a:r>
            <a:r>
              <a:rPr lang="fr-FR" sz="2100" dirty="0"/>
              <a:t> de </a:t>
            </a:r>
            <a:r>
              <a:rPr lang="fr-FR" sz="2100" dirty="0" err="1"/>
              <a:t>combustivel</a:t>
            </a:r>
            <a:endParaRPr lang="pt-BR" sz="2100" dirty="0"/>
          </a:p>
        </p:txBody>
      </p:sp>
      <p:pic>
        <p:nvPicPr>
          <p:cNvPr id="5" name="Espaço Reservado para Conteúdo 4" descr="Gráfico, Gráfico de barras&#10;&#10;O conteúdo gerado por IA pode estar incorreto.">
            <a:extLst>
              <a:ext uri="{FF2B5EF4-FFF2-40B4-BE49-F238E27FC236}">
                <a16:creationId xmlns:a16="http://schemas.microsoft.com/office/drawing/2014/main" id="{7CA2C0CA-ECE5-242F-AD3B-03CDEFB6C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63" y="514350"/>
            <a:ext cx="7861881" cy="3930942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962AA3D-9646-C593-6F1F-37AF984FC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8664" y="5176569"/>
            <a:ext cx="4521300" cy="970450"/>
          </a:xfrm>
        </p:spPr>
        <p:txBody>
          <a:bodyPr>
            <a:normAutofit/>
          </a:bodyPr>
          <a:lstStyle/>
          <a:p>
            <a:endParaRPr lang="en-US" sz="1400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18142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D336D4B-F9C3-4167-9191-8DA896C80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6">
            <a:extLst>
              <a:ext uri="{FF2B5EF4-FFF2-40B4-BE49-F238E27FC236}">
                <a16:creationId xmlns:a16="http://schemas.microsoft.com/office/drawing/2014/main" id="{069BF0B4-2BF1-40F2-8D8E-9CFCED97D9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0" y="4672012"/>
            <a:ext cx="9144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solidFill>
            <a:srgbClr val="212121"/>
          </a:solidFill>
          <a:ln>
            <a:noFill/>
          </a:ln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46A625E-F4AD-DD77-5A39-B321CD84A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634" y="5176569"/>
            <a:ext cx="3441757" cy="970450"/>
          </a:xfrm>
        </p:spPr>
        <p:txBody>
          <a:bodyPr anchor="ctr">
            <a:normAutofit/>
          </a:bodyPr>
          <a:lstStyle/>
          <a:p>
            <a:r>
              <a:rPr lang="fr-FR" sz="2100" dirty="0" err="1"/>
              <a:t>Milhagem</a:t>
            </a:r>
            <a:r>
              <a:rPr lang="fr-FR" sz="2100" dirty="0"/>
              <a:t> </a:t>
            </a:r>
            <a:r>
              <a:rPr lang="fr-FR" sz="2100" dirty="0" err="1"/>
              <a:t>por</a:t>
            </a:r>
            <a:r>
              <a:rPr lang="fr-FR" sz="2100" dirty="0"/>
              <a:t> Fabricante</a:t>
            </a:r>
            <a:endParaRPr lang="pt-BR" sz="2100" dirty="0"/>
          </a:p>
        </p:txBody>
      </p:sp>
      <p:pic>
        <p:nvPicPr>
          <p:cNvPr id="5" name="Espaço Reservado para Conteúdo 4" descr="Gráfico, Gráfico de barras&#10;&#10;O conteúdo gerado por IA pode estar incorreto.">
            <a:extLst>
              <a:ext uri="{FF2B5EF4-FFF2-40B4-BE49-F238E27FC236}">
                <a16:creationId xmlns:a16="http://schemas.microsoft.com/office/drawing/2014/main" id="{38D81186-C0E1-3B1B-785A-03734D6401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763" y="514350"/>
            <a:ext cx="7861881" cy="3930942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D598B1B-EB6A-D70D-0FE9-5EB6795E9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8664" y="5176569"/>
            <a:ext cx="4521300" cy="970450"/>
          </a:xfrm>
        </p:spPr>
        <p:txBody>
          <a:bodyPr>
            <a:normAutofit/>
          </a:bodyPr>
          <a:lstStyle/>
          <a:p>
            <a:endParaRPr lang="en-US" sz="1400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03739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 descr="Gráfico, Gráfico de caixa estreita&#10;&#10;O conteúdo gerado por IA pode estar incorreto.">
            <a:extLst>
              <a:ext uri="{FF2B5EF4-FFF2-40B4-BE49-F238E27FC236}">
                <a16:creationId xmlns:a16="http://schemas.microsoft.com/office/drawing/2014/main" id="{9BEC1E7C-8613-162A-4163-49242D17FA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2289" r="7711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1710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D336D4B-F9C3-4167-9191-8DA896C80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6">
            <a:extLst>
              <a:ext uri="{FF2B5EF4-FFF2-40B4-BE49-F238E27FC236}">
                <a16:creationId xmlns:a16="http://schemas.microsoft.com/office/drawing/2014/main" id="{069BF0B4-2BF1-40F2-8D8E-9CFCED97D9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0" y="4672012"/>
            <a:ext cx="9144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solidFill>
            <a:srgbClr val="212121"/>
          </a:solidFill>
          <a:ln>
            <a:noFill/>
          </a:ln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12E1B8B-FFEB-DA00-F3E5-0D6488796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634" y="5176569"/>
            <a:ext cx="3441757" cy="970450"/>
          </a:xfrm>
        </p:spPr>
        <p:txBody>
          <a:bodyPr anchor="ctr">
            <a:normAutofit/>
          </a:bodyPr>
          <a:lstStyle/>
          <a:p>
            <a:r>
              <a:rPr lang="fr-FR" sz="2100" dirty="0" err="1"/>
              <a:t>Chama</a:t>
            </a:r>
            <a:r>
              <a:rPr lang="fr-FR" sz="2100" dirty="0"/>
              <a:t> a </a:t>
            </a:r>
            <a:r>
              <a:rPr lang="fr-FR" sz="2100" dirty="0" err="1"/>
              <a:t>atenção</a:t>
            </a:r>
            <a:r>
              <a:rPr lang="fr-FR" sz="2100" dirty="0"/>
              <a:t> o </a:t>
            </a:r>
            <a:r>
              <a:rPr lang="fr-FR" sz="2100" dirty="0" err="1"/>
              <a:t>outlier</a:t>
            </a:r>
            <a:endParaRPr lang="pt-BR" sz="2100" dirty="0"/>
          </a:p>
        </p:txBody>
      </p:sp>
      <p:pic>
        <p:nvPicPr>
          <p:cNvPr id="5" name="Espaço Reservado para Conteúdo 4" descr="Gráfico, Gráfico de linhas&#10;&#10;O conteúdo gerado por IA pode estar incorreto.">
            <a:extLst>
              <a:ext uri="{FF2B5EF4-FFF2-40B4-BE49-F238E27FC236}">
                <a16:creationId xmlns:a16="http://schemas.microsoft.com/office/drawing/2014/main" id="{BFCD5A2C-15F0-24E5-F9E8-08A7E67593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763" y="514350"/>
            <a:ext cx="7692762" cy="3930942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260A170-7336-5748-6084-932EFC10E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8664" y="5176569"/>
            <a:ext cx="4521300" cy="970450"/>
          </a:xfrm>
        </p:spPr>
        <p:txBody>
          <a:bodyPr>
            <a:normAutofit/>
          </a:bodyPr>
          <a:lstStyle/>
          <a:p>
            <a:endParaRPr lang="en-US" sz="1400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45762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940F547-7206-4401-94FB-F8421915D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Gráficos financeiros em uma tela escura">
            <a:extLst>
              <a:ext uri="{FF2B5EF4-FFF2-40B4-BE49-F238E27FC236}">
                <a16:creationId xmlns:a16="http://schemas.microsoft.com/office/drawing/2014/main" id="{4224CBCE-5795-8ACD-1A69-EDCB88591EF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40000"/>
          </a:blip>
          <a:srcRect l="5429" r="11238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447188"/>
            <a:ext cx="7928998" cy="970450"/>
          </a:xfrm>
        </p:spPr>
        <p:txBody>
          <a:bodyPr>
            <a:normAutofit/>
          </a:bodyPr>
          <a:lstStyle/>
          <a:p>
            <a:r>
              <a:t>5. Visualizações e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4034" y="2222287"/>
            <a:ext cx="7915930" cy="3636511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endParaRPr lang="pt-BR" sz="1300"/>
          </a:p>
          <a:p>
            <a:pPr marL="0" indent="0">
              <a:lnSpc>
                <a:spcPct val="90000"/>
              </a:lnSpc>
              <a:buNone/>
            </a:pPr>
            <a:r>
              <a:rPr lang="pt-BR" sz="1300"/>
              <a:t>    • Power BI Dashboard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1300"/>
              <a:t>      - </a:t>
            </a:r>
            <a:r>
              <a:rPr lang="pt-BR" sz="1300" err="1"/>
              <a:t>Estrutura</a:t>
            </a:r>
            <a:r>
              <a:rPr lang="pt-BR" sz="1300"/>
              <a:t> e </a:t>
            </a:r>
            <a:r>
              <a:rPr lang="pt-BR" sz="1300" err="1"/>
              <a:t>medidas</a:t>
            </a:r>
            <a:r>
              <a:rPr lang="pt-BR" sz="1300"/>
              <a:t> DAX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1300"/>
              <a:t>      - </a:t>
            </a:r>
            <a:r>
              <a:rPr lang="pt-BR" sz="1300" err="1"/>
              <a:t>Interatividade</a:t>
            </a:r>
            <a:endParaRPr lang="pt-BR" sz="1300"/>
          </a:p>
          <a:p>
            <a:pPr marL="0" indent="0">
              <a:lnSpc>
                <a:spcPct val="90000"/>
              </a:lnSpc>
              <a:buNone/>
            </a:pPr>
            <a:r>
              <a:rPr lang="pt-BR" sz="1300"/>
              <a:t>  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1300"/>
              <a:t>    • </a:t>
            </a:r>
            <a:r>
              <a:rPr lang="pt-BR" sz="1300" err="1"/>
              <a:t>Principais</a:t>
            </a:r>
            <a:r>
              <a:rPr lang="pt-BR" sz="1300"/>
              <a:t> </a:t>
            </a:r>
            <a:r>
              <a:rPr lang="pt-BR" sz="1300" err="1"/>
              <a:t>Visualizações</a:t>
            </a:r>
            <a:endParaRPr lang="pt-BR" sz="1300"/>
          </a:p>
          <a:p>
            <a:pPr marL="0" indent="0">
              <a:lnSpc>
                <a:spcPct val="90000"/>
              </a:lnSpc>
              <a:buNone/>
            </a:pPr>
            <a:r>
              <a:rPr lang="pt-BR" sz="1300"/>
              <a:t>      - Box plot de </a:t>
            </a:r>
            <a:r>
              <a:rPr lang="pt-BR" sz="1300" err="1"/>
              <a:t>preços</a:t>
            </a:r>
            <a:endParaRPr lang="pt-BR" sz="1300"/>
          </a:p>
          <a:p>
            <a:pPr marL="0" indent="0">
              <a:lnSpc>
                <a:spcPct val="90000"/>
              </a:lnSpc>
              <a:buNone/>
            </a:pPr>
            <a:r>
              <a:rPr lang="pt-BR" sz="1300"/>
              <a:t>      - Mapa </a:t>
            </a:r>
            <a:r>
              <a:rPr lang="pt-BR" sz="1300" err="1"/>
              <a:t>interativo</a:t>
            </a:r>
            <a:endParaRPr lang="pt-BR" sz="1300"/>
          </a:p>
          <a:p>
            <a:pPr marL="0" indent="0">
              <a:lnSpc>
                <a:spcPct val="90000"/>
              </a:lnSpc>
              <a:buNone/>
            </a:pPr>
            <a:r>
              <a:rPr lang="pt-BR" sz="1300"/>
              <a:t>      - Top </a:t>
            </a:r>
            <a:r>
              <a:rPr lang="pt-BR" sz="1300" err="1"/>
              <a:t>fabricantes</a:t>
            </a:r>
            <a:endParaRPr lang="pt-BR" sz="1300"/>
          </a:p>
          <a:p>
            <a:pPr marL="0" indent="0">
              <a:lnSpc>
                <a:spcPct val="90000"/>
              </a:lnSpc>
              <a:buNone/>
            </a:pPr>
            <a:r>
              <a:rPr lang="pt-BR" sz="1300"/>
              <a:t>      - </a:t>
            </a:r>
            <a:r>
              <a:rPr lang="pt-BR" sz="1300" err="1"/>
              <a:t>Análise</a:t>
            </a:r>
            <a:r>
              <a:rPr lang="pt-BR" sz="1300"/>
              <a:t> de </a:t>
            </a:r>
            <a:r>
              <a:rPr lang="pt-BR" sz="1300" err="1"/>
              <a:t>combustível</a:t>
            </a:r>
            <a:endParaRPr lang="pt-BR" sz="1300"/>
          </a:p>
          <a:p>
            <a:pPr marL="0" indent="0">
              <a:lnSpc>
                <a:spcPct val="90000"/>
              </a:lnSpc>
              <a:buNone/>
            </a:pPr>
            <a:r>
              <a:rPr lang="pt-BR" sz="1300"/>
              <a:t>      - </a:t>
            </a:r>
            <a:r>
              <a:rPr lang="pt-BR" sz="1300" err="1"/>
              <a:t>Dispersão</a:t>
            </a:r>
            <a:r>
              <a:rPr lang="pt-BR" sz="1300"/>
              <a:t> </a:t>
            </a:r>
            <a:r>
              <a:rPr lang="pt-BR" sz="1300" err="1"/>
              <a:t>preço</a:t>
            </a:r>
            <a:r>
              <a:rPr lang="pt-BR" sz="1300"/>
              <a:t> vs. km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sz="1300"/>
              <a:t>   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essoa observando o telefone vazio">
            <a:extLst>
              <a:ext uri="{FF2B5EF4-FFF2-40B4-BE49-F238E27FC236}">
                <a16:creationId xmlns:a16="http://schemas.microsoft.com/office/drawing/2014/main" id="{EAADD92A-B749-E346-AD8A-E7E441C3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43335" r="12175" b="-2"/>
          <a:stretch/>
        </p:blipFill>
        <p:spPr>
          <a:xfrm>
            <a:off x="4581525" y="-1"/>
            <a:ext cx="4570837" cy="6858001"/>
          </a:xfrm>
          <a:prstGeom prst="rect">
            <a:avLst/>
          </a:prstGeom>
        </p:spPr>
      </p:pic>
      <p:sp>
        <p:nvSpPr>
          <p:cNvPr id="9" name="Freeform 16">
            <a:extLst>
              <a:ext uri="{FF2B5EF4-FFF2-40B4-BE49-F238E27FC236}">
                <a16:creationId xmlns:a16="http://schemas.microsoft.com/office/drawing/2014/main" id="{3994EE40-F54F-48E5-826B-B45158209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864100" cy="6858000"/>
          </a:xfrm>
          <a:custGeom>
            <a:avLst/>
            <a:gdLst>
              <a:gd name="connsiteX0" fmla="*/ 0 w 6485467"/>
              <a:gd name="connsiteY0" fmla="*/ 0 h 6858000"/>
              <a:gd name="connsiteX1" fmla="*/ 6485467 w 6485467"/>
              <a:gd name="connsiteY1" fmla="*/ 0 h 6858000"/>
              <a:gd name="connsiteX2" fmla="*/ 6485467 w 6485467"/>
              <a:gd name="connsiteY2" fmla="*/ 1900238 h 6858000"/>
              <a:gd name="connsiteX3" fmla="*/ 6115051 w 6485467"/>
              <a:gd name="connsiteY3" fmla="*/ 2178050 h 6858000"/>
              <a:gd name="connsiteX4" fmla="*/ 6110817 w 6485467"/>
              <a:gd name="connsiteY4" fmla="*/ 2184400 h 6858000"/>
              <a:gd name="connsiteX5" fmla="*/ 6104467 w 6485467"/>
              <a:gd name="connsiteY5" fmla="*/ 2193925 h 6858000"/>
              <a:gd name="connsiteX6" fmla="*/ 6098117 w 6485467"/>
              <a:gd name="connsiteY6" fmla="*/ 2201863 h 6858000"/>
              <a:gd name="connsiteX7" fmla="*/ 6098117 w 6485467"/>
              <a:gd name="connsiteY7" fmla="*/ 2211388 h 6858000"/>
              <a:gd name="connsiteX8" fmla="*/ 6098117 w 6485467"/>
              <a:gd name="connsiteY8" fmla="*/ 2220913 h 6858000"/>
              <a:gd name="connsiteX9" fmla="*/ 6104467 w 6485467"/>
              <a:gd name="connsiteY9" fmla="*/ 2228850 h 6858000"/>
              <a:gd name="connsiteX10" fmla="*/ 6110817 w 6485467"/>
              <a:gd name="connsiteY10" fmla="*/ 2238375 h 6858000"/>
              <a:gd name="connsiteX11" fmla="*/ 6115051 w 6485467"/>
              <a:gd name="connsiteY11" fmla="*/ 2244725 h 6858000"/>
              <a:gd name="connsiteX12" fmla="*/ 6485467 w 6485467"/>
              <a:gd name="connsiteY12" fmla="*/ 2522538 h 6858000"/>
              <a:gd name="connsiteX13" fmla="*/ 6485467 w 6485467"/>
              <a:gd name="connsiteY13" fmla="*/ 6858000 h 6858000"/>
              <a:gd name="connsiteX14" fmla="*/ 0 w 6485467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485467" h="6858000">
                <a:moveTo>
                  <a:pt x="0" y="0"/>
                </a:moveTo>
                <a:lnTo>
                  <a:pt x="6485467" y="0"/>
                </a:lnTo>
                <a:lnTo>
                  <a:pt x="6485467" y="1900238"/>
                </a:lnTo>
                <a:lnTo>
                  <a:pt x="6115051" y="2178050"/>
                </a:lnTo>
                <a:lnTo>
                  <a:pt x="6110817" y="2184400"/>
                </a:lnTo>
                <a:lnTo>
                  <a:pt x="6104467" y="2193925"/>
                </a:lnTo>
                <a:lnTo>
                  <a:pt x="6098117" y="2201863"/>
                </a:lnTo>
                <a:lnTo>
                  <a:pt x="6098117" y="2211388"/>
                </a:lnTo>
                <a:lnTo>
                  <a:pt x="6098117" y="2220913"/>
                </a:lnTo>
                <a:lnTo>
                  <a:pt x="6104467" y="2228850"/>
                </a:lnTo>
                <a:lnTo>
                  <a:pt x="6110817" y="2238375"/>
                </a:lnTo>
                <a:lnTo>
                  <a:pt x="6115051" y="2244725"/>
                </a:lnTo>
                <a:lnTo>
                  <a:pt x="6485467" y="2522538"/>
                </a:lnTo>
                <a:lnTo>
                  <a:pt x="648546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447188"/>
            <a:ext cx="3802575" cy="155941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t-BR" sz="3400"/>
              <a:t>6. Demonstração do Streamlit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4034" y="2413000"/>
            <a:ext cx="3791942" cy="3632200"/>
          </a:xfrm>
        </p:spPr>
        <p:txBody>
          <a:bodyPr>
            <a:normAutofit/>
          </a:bodyPr>
          <a:lstStyle/>
          <a:p>
            <a:endParaRPr dirty="0"/>
          </a:p>
          <a:p>
            <a:pPr marL="0" indent="0">
              <a:buNone/>
            </a:pPr>
            <a:r>
              <a:rPr dirty="0"/>
              <a:t>    • </a:t>
            </a:r>
            <a:r>
              <a:rPr dirty="0" err="1"/>
              <a:t>Aplicação</a:t>
            </a:r>
            <a:r>
              <a:rPr dirty="0"/>
              <a:t> Web</a:t>
            </a:r>
          </a:p>
          <a:p>
            <a:pPr marL="0" indent="0">
              <a:buNone/>
            </a:pPr>
            <a:r>
              <a:rPr dirty="0"/>
              <a:t>      - </a:t>
            </a:r>
            <a:r>
              <a:rPr dirty="0" err="1"/>
              <a:t>Estrutura</a:t>
            </a:r>
            <a:r>
              <a:rPr dirty="0"/>
              <a:t> da </a:t>
            </a:r>
            <a:r>
              <a:rPr dirty="0" err="1"/>
              <a:t>aplicação</a:t>
            </a:r>
            <a:endParaRPr dirty="0"/>
          </a:p>
          <a:p>
            <a:pPr marL="0" indent="0">
              <a:buNone/>
            </a:pPr>
            <a:r>
              <a:rPr dirty="0"/>
              <a:t>      - </a:t>
            </a:r>
            <a:r>
              <a:rPr dirty="0" err="1"/>
              <a:t>Funcionalidades</a:t>
            </a:r>
            <a:endParaRPr dirty="0"/>
          </a:p>
          <a:p>
            <a:pPr marL="0" indent="0">
              <a:buNone/>
            </a:pPr>
            <a:r>
              <a:rPr dirty="0"/>
              <a:t>   </a:t>
            </a:r>
          </a:p>
          <a:p>
            <a:pPr marL="0" indent="0">
              <a:buNone/>
            </a:pPr>
            <a:r>
              <a:rPr dirty="0"/>
              <a:t>    • </a:t>
            </a:r>
            <a:r>
              <a:rPr dirty="0" err="1"/>
              <a:t>Diferencial</a:t>
            </a:r>
            <a:r>
              <a:rPr dirty="0"/>
              <a:t> do </a:t>
            </a:r>
            <a:r>
              <a:rPr dirty="0" err="1"/>
              <a:t>Projeto</a:t>
            </a:r>
            <a:endParaRPr dirty="0"/>
          </a:p>
          <a:p>
            <a:pPr marL="0" indent="0">
              <a:buNone/>
            </a:pPr>
            <a:r>
              <a:rPr dirty="0"/>
              <a:t>      - </a:t>
            </a:r>
            <a:r>
              <a:rPr dirty="0" err="1"/>
              <a:t>Acessibilidade</a:t>
            </a:r>
            <a:r>
              <a:rPr dirty="0"/>
              <a:t> dos dados</a:t>
            </a:r>
          </a:p>
          <a:p>
            <a:pPr marL="0" indent="0">
              <a:buNone/>
            </a:pPr>
            <a:r>
              <a:rPr dirty="0"/>
              <a:t>      - </a:t>
            </a:r>
            <a:r>
              <a:rPr dirty="0" err="1"/>
              <a:t>Análises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tempo real</a:t>
            </a:r>
          </a:p>
          <a:p>
            <a:pPr marL="0" indent="0">
              <a:buNone/>
            </a:pPr>
            <a:r>
              <a:rPr dirty="0"/>
              <a:t>   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447188"/>
            <a:ext cx="7928998" cy="970450"/>
          </a:xfrm>
        </p:spPr>
        <p:txBody>
          <a:bodyPr>
            <a:normAutofit/>
          </a:bodyPr>
          <a:lstStyle/>
          <a:p>
            <a:r>
              <a:t>Conclusões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2067D86-5796-BC79-22CF-1099850080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9373977"/>
              </p:ext>
            </p:extLst>
          </p:nvPr>
        </p:nvGraphicFramePr>
        <p:xfrm>
          <a:off x="614362" y="2548647"/>
          <a:ext cx="7915275" cy="33108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4047A07-72EC-41BC-A55F-C264F639F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onto de interrogação amarelo">
            <a:extLst>
              <a:ext uri="{FF2B5EF4-FFF2-40B4-BE49-F238E27FC236}">
                <a16:creationId xmlns:a16="http://schemas.microsoft.com/office/drawing/2014/main" id="{7E331A40-2D0B-49F4-3790-69ED8D907A8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20000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7500" y="1449147"/>
            <a:ext cx="7929000" cy="3732453"/>
          </a:xfrm>
        </p:spPr>
        <p:txBody>
          <a:bodyPr>
            <a:normAutofit/>
          </a:bodyPr>
          <a:lstStyle/>
          <a:p>
            <a:r>
              <a:t>Perguntas?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7500" y="5280847"/>
            <a:ext cx="7929000" cy="434974"/>
          </a:xfrm>
        </p:spPr>
        <p:txBody>
          <a:bodyPr>
            <a:normAutofit/>
          </a:bodyPr>
          <a:lstStyle/>
          <a:p>
            <a:r>
              <a:t>Obrigado pela atenção!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tável">
  <a:themeElements>
    <a:clrScheme name="Citável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Citável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Citáv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TM03457503[[fn=Citável]]</Template>
  <TotalTime>374</TotalTime>
  <Words>1219</Words>
  <Application>Microsoft Office PowerPoint</Application>
  <PresentationFormat>Apresentação na tela (4:3)</PresentationFormat>
  <Paragraphs>178</Paragraphs>
  <Slides>14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21" baseType="lpstr">
      <vt:lpstr>Aptos</vt:lpstr>
      <vt:lpstr>Arial</vt:lpstr>
      <vt:lpstr>Century Gothic</vt:lpstr>
      <vt:lpstr>Consolas</vt:lpstr>
      <vt:lpstr>Segoe WPC</vt:lpstr>
      <vt:lpstr>Wingdings 2</vt:lpstr>
      <vt:lpstr>Citável</vt:lpstr>
      <vt:lpstr>Análise do Mercado de Carros Usados</vt:lpstr>
      <vt:lpstr>Agenda</vt:lpstr>
      <vt:lpstr>1. Introdução</vt:lpstr>
      <vt:lpstr>2. Preparação e Limpeza dos Dados</vt:lpstr>
      <vt:lpstr>3. Análise SQL e Insights Iniciais</vt:lpstr>
      <vt:lpstr>4. Análise Estatística Descritiva</vt:lpstr>
      <vt:lpstr>Milhagem por tipo de combustivel</vt:lpstr>
      <vt:lpstr>Milhagem por Fabricante</vt:lpstr>
      <vt:lpstr>Apresentação do PowerPoint</vt:lpstr>
      <vt:lpstr>Chama a atenção o outlier</vt:lpstr>
      <vt:lpstr>5. Visualizações e Dashboard</vt:lpstr>
      <vt:lpstr>6. Demonstração do Streamlit</vt:lpstr>
      <vt:lpstr>Conclusões</vt:lpstr>
      <vt:lpstr>Perguntas?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anderson Moura</cp:lastModifiedBy>
  <cp:revision>2</cp:revision>
  <dcterms:created xsi:type="dcterms:W3CDTF">2013-01-27T09:14:16Z</dcterms:created>
  <dcterms:modified xsi:type="dcterms:W3CDTF">2025-04-10T14:12:07Z</dcterms:modified>
  <cp:category/>
</cp:coreProperties>
</file>